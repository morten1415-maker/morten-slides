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3504" y="1554480"/>
            <a:ext cx="10058400" cy="3657600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>
            <a:outerShdw blurRad="0" dist="101600" dir="2700000" rotWithShape="0">
              <a:srgbClr val="066B43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548640" tIns="502920" bIns="502920"/>
          <a:lstStyle/>
          <a:p>
            <a:pPr algn="l">
              <a:lnSpc>
                <a:spcPct val="102000"/>
              </a:lnSpc>
              <a:spcAft>
                <a:spcPts val="2000"/>
              </a:spcAft>
            </a:pPr>
            <a:r>
              <a:rPr sz="5800" b="1">
                <a:solidFill>
                  <a:srgbClr val="000000"/>
                </a:solidFill>
                <a:latin typeface="IBM Plex Sans"/>
              </a:rPr>
              <a:t>Årsrapport 2026.</a:t>
            </a:r>
          </a:p>
          <a:p>
            <a:pPr algn="l">
              <a:lnSpc>
                <a:spcPct val="125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Et slidedeck i Økonomistyrelsens identitet — bygget på den brutalistiske skabelon med ØS-grøn som anker.</a:t>
            </a:r>
          </a:p>
        </p:txBody>
      </p:sp>
      <p:pic>
        <p:nvPicPr>
          <p:cNvPr id="5" name="Picture 4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21031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spc="120">
                <a:solidFill>
                  <a:srgbClr val="FFFFFF"/>
                </a:solidFill>
                <a:latin typeface="IBM Plex Mono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274320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>
                <a:solidFill>
                  <a:srgbClr val="FFFFFF"/>
                </a:solidFill>
                <a:latin typeface="IBM Plex Sans"/>
              </a:rPr>
              <a:t>Årets resultater</a:t>
            </a:r>
          </a:p>
        </p:txBody>
      </p:sp>
      <p:pic>
        <p:nvPicPr>
          <p:cNvPr id="6" name="Picture 5" descr="oes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3252"/>
            <a:ext cx="1417320" cy="3887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457200"/>
            <a:ext cx="1098468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Tre fokusområder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44244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4" y="1630680"/>
            <a:ext cx="139700" cy="1397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4984" y="155448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Digitalisering af økonomiprocesser på tværs af staten.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2289048"/>
            <a:ext cx="139700" cy="1397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4" y="2212848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Øget gennemsigtighed i statsregnskabet.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" y="2947416"/>
            <a:ext cx="139700" cy="139700"/>
          </a:xfrm>
          <a:prstGeom prst="rect">
            <a:avLst/>
          </a:prstGeom>
          <a:solidFill>
            <a:srgbClr val="ED5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4" y="2871216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Stærkere datagrundlag for politiske beslutninger.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" y="3605784"/>
            <a:ext cx="139700" cy="1397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3529584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Reduktion af administrative byrder.</a:t>
            </a:r>
          </a:p>
        </p:txBody>
      </p:sp>
      <p:pic>
        <p:nvPicPr>
          <p:cNvPr id="14" name="Picture 13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457200"/>
            <a:ext cx="1098468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Før og efter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44244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40" y="1554480"/>
            <a:ext cx="12700" cy="4480560"/>
          </a:xfrm>
          <a:prstGeom prst="rect">
            <a:avLst/>
          </a:prstGeom>
          <a:solidFill>
            <a:srgbClr val="E8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15544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FØR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201168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Manuelle indberetninger, spredte systemer, lange svartider.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EFTER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Samlet platform, automatiske flows, realtids-overblik.</a:t>
            </a:r>
          </a:p>
        </p:txBody>
      </p:sp>
      <p:pic>
        <p:nvPicPr>
          <p:cNvPr id="11" name="Picture 10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3504" y="2194560"/>
            <a:ext cx="76200" cy="2377440"/>
          </a:xfrm>
          <a:prstGeom prst="rect">
            <a:avLst/>
          </a:prstGeom>
          <a:solidFill>
            <a:srgbClr val="ED5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" y="2194560"/>
            <a:ext cx="9601200" cy="2377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000000"/>
                </a:solidFill>
                <a:latin typeface="IBM Plex Sans"/>
              </a:rPr>
              <a:t>Gode beslutninger bygger på pålidelige 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" y="4663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spc="120">
                <a:solidFill>
                  <a:srgbClr val="6B6B6B"/>
                </a:solidFill>
                <a:latin typeface="IBM Plex Mono"/>
              </a:rPr>
              <a:t>— ØKONOMISTYRELSEN</a:t>
            </a:r>
          </a:p>
        </p:txBody>
      </p:sp>
      <p:pic>
        <p:nvPicPr>
          <p:cNvPr id="7" name="Picture 6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457200"/>
            <a:ext cx="1098468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Året i 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44244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4" y="2606040"/>
            <a:ext cx="3417722" cy="23774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635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2926080"/>
            <a:ext cx="2869082" cy="118872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6000" b="1">
                <a:solidFill>
                  <a:srgbClr val="000000"/>
                </a:solidFill>
                <a:latin typeface="IBM Plex Mono"/>
              </a:rPr>
              <a:t>1,2 mio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206240"/>
            <a:ext cx="286908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120">
                <a:solidFill>
                  <a:srgbClr val="6B6B6B"/>
                </a:solidFill>
                <a:latin typeface="IBM Plex Mono"/>
              </a:rPr>
              <a:t>BEHANDLEDE BILAG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6986" y="2606040"/>
            <a:ext cx="3417722" cy="2377440"/>
          </a:xfrm>
          <a:prstGeom prst="rect">
            <a:avLst/>
          </a:prstGeom>
          <a:solidFill>
            <a:srgbClr val="FEF3C7"/>
          </a:solidFill>
          <a:ln w="25400">
            <a:solidFill>
              <a:srgbClr val="000000"/>
            </a:solidFill>
          </a:ln>
          <a:effectLst>
            <a:outerShdw blurRad="0" dist="63500" dir="2700000" rotWithShape="0">
              <a:srgbClr val="ED5E66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1306" y="2926080"/>
            <a:ext cx="2869082" cy="118872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6000" b="1">
                <a:solidFill>
                  <a:srgbClr val="066B43"/>
                </a:solidFill>
                <a:latin typeface="IBM Plex Mono"/>
              </a:rPr>
              <a:t>+18%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1306" y="4206240"/>
            <a:ext cx="286908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120">
                <a:solidFill>
                  <a:srgbClr val="6B6B6B"/>
                </a:solidFill>
                <a:latin typeface="IBM Plex Mono"/>
              </a:rPr>
              <a:t>EFFEKTIVISERING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70468" y="2606040"/>
            <a:ext cx="3417722" cy="23774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635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44788" y="2926080"/>
            <a:ext cx="2869082" cy="118872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6000" b="1">
                <a:solidFill>
                  <a:srgbClr val="000000"/>
                </a:solidFill>
                <a:latin typeface="IBM Plex Mono"/>
              </a:rPr>
              <a:t>99,8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44788" y="4206240"/>
            <a:ext cx="286908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120">
                <a:solidFill>
                  <a:srgbClr val="6B6B6B"/>
                </a:solidFill>
                <a:latin typeface="IBM Plex Mono"/>
              </a:rPr>
              <a:t>OPPETID %</a:t>
            </a:r>
          </a:p>
        </p:txBody>
      </p:sp>
      <p:pic>
        <p:nvPicPr>
          <p:cNvPr id="15" name="Picture 14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457200"/>
            <a:ext cx="1098468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Budgetoversigt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44244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03504" y="1554480"/>
          <a:ext cx="10984687" cy="21945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6171"/>
                <a:gridCol w="2746171"/>
                <a:gridCol w="2746171"/>
                <a:gridCol w="2746174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 spc="120">
                          <a:solidFill>
                            <a:srgbClr val="FFFFFF"/>
                          </a:solidFill>
                          <a:latin typeface="IBM Plex Mono"/>
                        </a:rPr>
                        <a:t>OMRÅDE</a:t>
                      </a:r>
                    </a:p>
                  </a:txBody>
                  <a:tcPr marL="164592" marT="73152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spc="120">
                          <a:solidFill>
                            <a:srgbClr val="FFFFFF"/>
                          </a:solidFill>
                          <a:latin typeface="IBM Plex Mono"/>
                        </a:rPr>
                        <a:t>ANSVAR</a:t>
                      </a:r>
                    </a:p>
                  </a:txBody>
                  <a:tcPr marL="164592" marT="73152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spc="120">
                          <a:solidFill>
                            <a:srgbClr val="FFFFFF"/>
                          </a:solidFill>
                          <a:latin typeface="IBM Plex Mono"/>
                        </a:rPr>
                        <a:t>BUDGET (MIO)</a:t>
                      </a:r>
                    </a:p>
                  </a:txBody>
                  <a:tcPr marL="164592" marT="73152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spc="120">
                          <a:solidFill>
                            <a:srgbClr val="FFFFFF"/>
                          </a:solidFill>
                          <a:latin typeface="IBM Plex Mono"/>
                        </a:rPr>
                        <a:t>AFVIGELSE</a:t>
                      </a:r>
                    </a:p>
                  </a:txBody>
                  <a:tcPr marL="164592" marT="73152">
                    <a:solidFill>
                      <a:srgbClr val="00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Drift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ØS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240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−2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Udvikling</a:t>
                      </a:r>
                    </a:p>
                  </a:txBody>
                  <a:tcPr marL="164592" marT="54864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ØS</a:t>
                      </a:r>
                    </a:p>
                  </a:txBody>
                  <a:tcPr marL="164592" marT="54864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118</a:t>
                      </a:r>
                    </a:p>
                  </a:txBody>
                  <a:tcPr marL="164592" marT="54864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+5</a:t>
                      </a:r>
                    </a:p>
                  </a:txBody>
                  <a:tcPr marL="164592" marT="54864">
                    <a:solidFill>
                      <a:srgbClr val="FEF3C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Support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ØS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64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0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457200"/>
            <a:ext cx="1098468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44244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5448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spc="120">
                <a:solidFill>
                  <a:srgbClr val="6B6B6B"/>
                </a:solidFill>
                <a:latin typeface="IBM Plex Mon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9344" y="153619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000000"/>
                </a:solidFill>
                <a:latin typeface="IBM Plex Sans"/>
              </a:rPr>
              <a:t>Årets resultater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2194560"/>
            <a:ext cx="10984687" cy="12700"/>
          </a:xfrm>
          <a:prstGeom prst="rect">
            <a:avLst/>
          </a:prstGeom>
          <a:solidFill>
            <a:srgbClr val="E8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242316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spc="120">
                <a:solidFill>
                  <a:srgbClr val="ED5E66"/>
                </a:solidFill>
                <a:latin typeface="IBM Plex Mono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9344" y="240487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IBM Plex Sans"/>
              </a:rPr>
              <a:t>Digitalisering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" y="3063240"/>
            <a:ext cx="10984687" cy="12700"/>
          </a:xfrm>
          <a:prstGeom prst="rect">
            <a:avLst/>
          </a:prstGeom>
          <a:solidFill>
            <a:srgbClr val="E8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329184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spc="120">
                <a:solidFill>
                  <a:srgbClr val="6B6B6B"/>
                </a:solidFill>
                <a:latin typeface="IBM Plex Mono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9344" y="327355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000000"/>
                </a:solidFill>
                <a:latin typeface="IBM Plex Sans"/>
              </a:rPr>
              <a:t>Økonomi &amp; budget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504" y="3931920"/>
            <a:ext cx="10984687" cy="12700"/>
          </a:xfrm>
          <a:prstGeom prst="rect">
            <a:avLst/>
          </a:prstGeom>
          <a:solidFill>
            <a:srgbClr val="E8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" y="416052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spc="120">
                <a:solidFill>
                  <a:srgbClr val="6B6B6B"/>
                </a:solidFill>
                <a:latin typeface="IBM Plex Mono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9344" y="414223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000000"/>
                </a:solidFill>
                <a:latin typeface="IBM Plex Sans"/>
              </a:rPr>
              <a:t>Næste skridt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" y="4800600"/>
            <a:ext cx="10984687" cy="12700"/>
          </a:xfrm>
          <a:prstGeom prst="rect">
            <a:avLst/>
          </a:prstGeom>
          <a:solidFill>
            <a:srgbClr val="E8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8E3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6B6B6B"/>
                </a:solidFill>
                <a:latin typeface="IBM Plex Mono"/>
              </a:rPr>
              <a:t>BAGGRUNDSBILLEDE 16:9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3017520"/>
            <a:ext cx="8229600" cy="3108960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>
            <a:outerShdw blurRad="0" dist="1016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502920" tIns="457200" bIns="457200"/>
          <a:lstStyle/>
          <a:p>
            <a:pPr algn="l">
              <a:lnSpc>
                <a:spcPct val="104000"/>
              </a:lnSpc>
              <a:spcAft>
                <a:spcPts val="1400"/>
              </a:spcAft>
            </a:pPr>
            <a:r>
              <a:rPr sz="4400" b="1">
                <a:solidFill>
                  <a:srgbClr val="000000"/>
                </a:solidFill>
                <a:latin typeface="IBM Plex Sans"/>
              </a:rPr>
              <a:t>Stort billede, stærk åbning.</a:t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333333"/>
                </a:solidFill>
                <a:latin typeface="IBM Plex Sans"/>
              </a:rPr>
              <a:t>Overlay-boks med hård shadow oven på fuldt baggrundsbillede.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457200"/>
            <a:ext cx="1098468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Tre indsatsområder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44244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4" y="2148840"/>
            <a:ext cx="3448202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381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2423160"/>
            <a:ext cx="457200" cy="4572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3063240"/>
            <a:ext cx="289956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IBM Plex Sans"/>
              </a:rPr>
              <a:t>Effektivitet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3611880"/>
            <a:ext cx="289956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333333"/>
                </a:solidFill>
                <a:latin typeface="IBM Plex Sans"/>
              </a:rPr>
              <a:t>Færre manuelle trin gennem automatisering.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1746" y="2148840"/>
            <a:ext cx="3448202" cy="3291840"/>
          </a:xfrm>
          <a:prstGeom prst="rect">
            <a:avLst/>
          </a:prstGeom>
          <a:solidFill>
            <a:srgbClr val="FEF3C7"/>
          </a:solidFill>
          <a:ln w="25400">
            <a:solidFill>
              <a:srgbClr val="000000"/>
            </a:solidFill>
          </a:ln>
          <a:effectLst>
            <a:outerShdw blurRad="0" dist="381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46066" y="2423160"/>
            <a:ext cx="457200" cy="457200"/>
          </a:xfrm>
          <a:prstGeom prst="rect">
            <a:avLst/>
          </a:prstGeom>
          <a:solidFill>
            <a:srgbClr val="ED5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46066" y="3063240"/>
            <a:ext cx="289956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IBM Plex Sans"/>
              </a:rPr>
              <a:t>Gennemsigtighed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6066" y="3611880"/>
            <a:ext cx="289956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333333"/>
                </a:solidFill>
                <a:latin typeface="IBM Plex Sans"/>
              </a:rPr>
              <a:t>Det fremhævede kort — gul flade, kun ét per slide.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9988" y="2148840"/>
            <a:ext cx="3448202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381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14308" y="2423160"/>
            <a:ext cx="457200" cy="4572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4308" y="3063240"/>
            <a:ext cx="289956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IBM Plex Sans"/>
              </a:rPr>
              <a:t>Datagrundlag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4308" y="3611880"/>
            <a:ext cx="289956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333333"/>
                </a:solidFill>
                <a:latin typeface="IBM Plex Sans"/>
              </a:rPr>
              <a:t>Bedre tal til politiske beslutninger.</a:t>
            </a:r>
          </a:p>
        </p:txBody>
      </p:sp>
      <p:pic>
        <p:nvPicPr>
          <p:cNvPr id="18" name="Picture 17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457200"/>
            <a:ext cx="1098468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Året i fire kvartaler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44244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514600"/>
            <a:ext cx="2526715" cy="381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3504" y="2423160"/>
            <a:ext cx="237744" cy="237744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2834640"/>
            <a:ext cx="25632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Q1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3200400"/>
            <a:ext cx="25632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IBM Plex Sans"/>
              </a:rPr>
              <a:t>Analyse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3703320"/>
            <a:ext cx="2517571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333333"/>
                </a:solidFill>
                <a:latin typeface="IBM Plex Sans"/>
              </a:rPr>
              <a:t>Behov afdækkes.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9131" y="2514600"/>
            <a:ext cx="2526715" cy="381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49675" y="2423160"/>
            <a:ext cx="237744" cy="237744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49675" y="2834640"/>
            <a:ext cx="25632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49675" y="3200400"/>
            <a:ext cx="25632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IBM Plex Sans"/>
              </a:rPr>
              <a:t>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9675" y="3703320"/>
            <a:ext cx="2517571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333333"/>
                </a:solidFill>
                <a:latin typeface="IBM Plex Sans"/>
              </a:rPr>
              <a:t>Løsninger formes.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15302" y="2514600"/>
            <a:ext cx="2526715" cy="381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95846" y="2423160"/>
            <a:ext cx="237744" cy="237744"/>
          </a:xfrm>
          <a:prstGeom prst="rect">
            <a:avLst/>
          </a:prstGeom>
          <a:solidFill>
            <a:srgbClr val="ED5E66"/>
          </a:solidFill>
          <a:ln w="38100">
            <a:solidFill>
              <a:srgbClr val="ED5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5846" y="2834640"/>
            <a:ext cx="25632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Q3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5846" y="3200400"/>
            <a:ext cx="25632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IBM Plex Sans"/>
              </a:rPr>
              <a:t>Udrulning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5846" y="3703320"/>
            <a:ext cx="2517571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333333"/>
                </a:solidFill>
                <a:latin typeface="IBM Plex Sans"/>
              </a:rPr>
              <a:t>Vi er her nu.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42017" y="2423160"/>
            <a:ext cx="237744" cy="237744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42017" y="2834640"/>
            <a:ext cx="25632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Q4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42017" y="3200400"/>
            <a:ext cx="25632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IBM Plex Sans"/>
              </a:rPr>
              <a:t>Evaluering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42017" y="3703320"/>
            <a:ext cx="2517571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333333"/>
                </a:solidFill>
                <a:latin typeface="IBM Plex Sans"/>
              </a:rPr>
              <a:t>Læring og justering.</a:t>
            </a:r>
          </a:p>
        </p:txBody>
      </p:sp>
      <p:pic>
        <p:nvPicPr>
          <p:cNvPr id="25" name="Picture 24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920240"/>
            <a:ext cx="10984687" cy="256032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066B43"/>
                </a:solidFill>
                <a:latin typeface="IBM Plex Mono"/>
              </a:rPr>
              <a:t>+18%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47548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333333"/>
                </a:solidFill>
                <a:latin typeface="IBM Plex Sans"/>
              </a:rPr>
              <a:t>Effektivisering år over år — positivt tal bærer ØS-grøn.</a:t>
            </a:r>
          </a:p>
        </p:txBody>
      </p:sp>
      <p:pic>
        <p:nvPicPr>
          <p:cNvPr id="6" name="Picture 5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457200"/>
            <a:ext cx="1098468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Budget pr. område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44244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62763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00000"/>
                </a:solidFill>
                <a:latin typeface="IBM Plex Sans"/>
              </a:rPr>
              <a:t>Drift</a:t>
            </a:r>
          </a:p>
        </p:txBody>
      </p:sp>
      <p:sp>
        <p:nvSpPr>
          <p:cNvPr id="7" name="Rectangle 6"/>
          <p:cNvSpPr/>
          <p:nvPr/>
        </p:nvSpPr>
        <p:spPr>
          <a:xfrm>
            <a:off x="2615184" y="1554480"/>
            <a:ext cx="7784287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615184" y="1554480"/>
            <a:ext cx="7784287" cy="5029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36631" y="162763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700" b="1">
                <a:solidFill>
                  <a:srgbClr val="000000"/>
                </a:solidFill>
                <a:latin typeface="IBM Plex Mono"/>
              </a:rPr>
              <a:t>240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245059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00000"/>
                </a:solidFill>
                <a:latin typeface="IBM Plex Sans"/>
              </a:rPr>
              <a:t>Udvikling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15184" y="2377440"/>
            <a:ext cx="7784287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15184" y="2377440"/>
            <a:ext cx="3814300" cy="502920"/>
          </a:xfrm>
          <a:prstGeom prst="rect">
            <a:avLst/>
          </a:prstGeom>
          <a:solidFill>
            <a:srgbClr val="ED5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36631" y="245059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700" b="1">
                <a:solidFill>
                  <a:srgbClr val="000000"/>
                </a:solidFill>
                <a:latin typeface="IBM Plex Mono"/>
              </a:rPr>
              <a:t>118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" y="327355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00000"/>
                </a:solidFill>
                <a:latin typeface="IBM Plex Sans"/>
              </a:rPr>
              <a:t>Support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15184" y="3200400"/>
            <a:ext cx="7784287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15184" y="3200400"/>
            <a:ext cx="2101757" cy="5029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36631" y="327355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700" b="1">
                <a:solidFill>
                  <a:srgbClr val="000000"/>
                </a:solidFill>
                <a:latin typeface="IBM Plex Mono"/>
              </a:rPr>
              <a:t>64</a:t>
            </a:r>
          </a:p>
        </p:txBody>
      </p:sp>
      <p:pic>
        <p:nvPicPr>
          <p:cNvPr id="18" name="Picture 17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3504" y="1828800"/>
            <a:ext cx="2377440" cy="2377440"/>
          </a:xfrm>
          <a:prstGeom prst="rect">
            <a:avLst/>
          </a:prstGeom>
          <a:solidFill>
            <a:srgbClr val="E8E8E3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6B6B6B"/>
                </a:solidFill>
                <a:latin typeface="IBM Plex Mono"/>
              </a:rPr>
              <a:t>PORTRÆT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1828800"/>
            <a:ext cx="76200" cy="1828800"/>
          </a:xfrm>
          <a:prstGeom prst="rect">
            <a:avLst/>
          </a:prstGeom>
          <a:solidFill>
            <a:srgbClr val="ED5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0" y="1828800"/>
            <a:ext cx="7315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000000"/>
                </a:solidFill>
                <a:latin typeface="IBM Plex Sans"/>
              </a:rPr>
              <a:t>“Gode beslutninger bygger på pålidelige tal.”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39319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IBM Plex Sans"/>
              </a:rPr>
              <a:t>Økonomistyrelsen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4389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STATENS ØKONOMIFORVALTNING</a:t>
            </a:r>
          </a:p>
        </p:txBody>
      </p:sp>
      <p:pic>
        <p:nvPicPr>
          <p:cNvPr id="9" name="Picture 8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2286000"/>
            <a:ext cx="10984687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000000"/>
                </a:solidFill>
                <a:latin typeface="IBM Plex Sans"/>
              </a:rPr>
              <a:t>Tak.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" y="4114800"/>
            <a:ext cx="4572000" cy="731520"/>
          </a:xfrm>
          <a:prstGeom prst="roundRect">
            <a:avLst>
              <a:gd name="adj" fmla="val 8000"/>
            </a:avLst>
          </a:prstGeom>
          <a:solidFill>
            <a:srgbClr val="066B43"/>
          </a:solidFill>
          <a:ln w="25400">
            <a:solidFill>
              <a:srgbClr val="066B43"/>
            </a:solidFill>
          </a:ln>
          <a:effectLst>
            <a:outerShdw blurRad="0" dist="50800" dir="2700000" rotWithShape="0">
              <a:srgbClr val="ED5E66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spc="120">
                <a:solidFill>
                  <a:srgbClr val="FFFFFF"/>
                </a:solidFill>
                <a:latin typeface="IBM Plex Mono"/>
              </a:rPr>
              <a:t>OES@OES.DK →</a:t>
            </a:r>
          </a:p>
        </p:txBody>
      </p:sp>
      <p:pic>
        <p:nvPicPr>
          <p:cNvPr id="6" name="Picture 5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