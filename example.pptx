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embeddedFontLst>
    <p:embeddedFont>
      <p:font typeface="IBM Plex Sans" pitchFamily="34" charset="0" panose="020B0503050203000203"/>
      <p:regular r:id="rId22"/>
      <p:bold r:id="rId23"/>
    </p:embeddedFont>
    <p:embeddedFont>
      <p:font typeface="IBM Plex Mono" pitchFamily="49" charset="0" panose="020B0509050203000203"/>
      <p:regular r:id="rId24"/>
      <p:bold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66B43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Årsrapport 2026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slidedeck i Økonomistyrelsens identitet — bygget på den brutalistiske skabelon med ØS-grøn som anker.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5559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ØKONOMISTYRELSEN · LEDELSESOVERBLIK · AUGUST 2026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Årets resultater</a:t>
            </a:r>
          </a:p>
        </p:txBody>
      </p:sp>
      <p:pic>
        <p:nvPicPr>
          <p:cNvPr id="6" name="Picture 5" descr="oe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3252"/>
            <a:ext cx="1417320" cy="3887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fokusområder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6306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Digitalisering af økonomiprocesser på tværs af staten.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2890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2128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Øget gennemsigtighed i statsregnskabet.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2947416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8712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Stærkere datagrundlag for politiske beslutninger.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36057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35295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Reduktion af administrative byrder.</a:t>
            </a:r>
          </a:p>
        </p:txBody>
      </p:sp>
      <p:pic>
        <p:nvPicPr>
          <p:cNvPr id="14" name="Picture 13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og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554480"/>
            <a:ext cx="12700" cy="448056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FØR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Manuelle indberetninger, spredte systemer, lange svartider.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EFTER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Samlet platform, automatiske flows, realtids-overblik.</a:t>
            </a:r>
          </a:p>
        </p:txBody>
      </p:sp>
      <p:pic>
        <p:nvPicPr>
          <p:cNvPr id="11" name="Picture 10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Gode beslutninger bygger på pålidelige 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ØKONOMISTYRELSEN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1,2 mio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BEHANDLEDE BILAG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60604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EFFEKTIVISERING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99,8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OPPETID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16" name="Picture 1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Budgetoversigt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1554480"/>
          <a:ext cx="10984687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OMRÅDE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ANSVAR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BUDGET (MIO)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AFVIGELSE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Drift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−2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Udvikling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118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+5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Support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64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8" name="Picture 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544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5361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Årets resultater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19456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4231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ED5E6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4048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Digitalisering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0632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2918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2735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Økonomi &amp;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39319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160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142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Næste skridt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48006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indsatsområder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Effektivitet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Færre manuelle trin gennem automatisering.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1488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423160"/>
            <a:ext cx="457200" cy="4572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Gennemsigtighed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— gul flade,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Datagrundlag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Bedre tal til politiske beslutninger.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fire kvartaler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Løsninger formes.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423160"/>
            <a:ext cx="237744" cy="237744"/>
          </a:xfrm>
          <a:prstGeom prst="rect">
            <a:avLst/>
          </a:prstGeom>
          <a:solidFill>
            <a:srgbClr val="ED5E66"/>
          </a:solidFill>
          <a:ln w="38100">
            <a:solidFill>
              <a:srgbClr val="ED5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Udrulning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Evaluering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Læring og justering.</a:t>
            </a:r>
          </a:p>
        </p:txBody>
      </p:sp>
      <p:pic>
        <p:nvPicPr>
          <p:cNvPr id="25" name="Picture 2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554480"/>
            <a:ext cx="10984687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43891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Effektivisering år over år — positivt tal bærer ØS-grøn.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 pr. område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627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Drift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16276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4505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Udvikling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23774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2377440"/>
            <a:ext cx="3814300" cy="50292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24505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3273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32004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3200400"/>
            <a:ext cx="210175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32735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19" name="Picture 1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“Gode beslutninger bygger på pålidelige tal.”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Økonomistyrelsen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STATENS ØKONOMIFORVALTNING</a:t>
            </a:r>
          </a:p>
        </p:txBody>
      </p:sp>
      <p:pic>
        <p:nvPicPr>
          <p:cNvPr id="9" name="Picture 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10984687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Tak.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66B43"/>
          </a:solidFill>
          <a:ln w="25400">
            <a:solidFill>
              <a:srgbClr val="066B43"/>
            </a:solidFill>
          </a:ln>
          <a:effectLst>
            <a:outerShdw blurRad="0" dist="508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OES@OES.DK →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