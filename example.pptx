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554480"/>
            <a:ext cx="1005840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66B43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02920" bIns="502920"/>
          <a:lstStyle/>
          <a:p>
            <a:pPr algn="l">
              <a:lnSpc>
                <a:spcPct val="102000"/>
              </a:lnSpc>
              <a:spcAft>
                <a:spcPts val="2000"/>
              </a:spcAft>
            </a:pPr>
            <a:r>
              <a:rPr sz="5800" b="1">
                <a:solidFill>
                  <a:srgbClr val="000000"/>
                </a:solidFill>
                <a:latin typeface="IBM Plex Sans"/>
              </a:rPr>
              <a:t>Årsrapport 2026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Et slidedeck i Økonomistyrelsens identitet — bygget på den brutalistiske skabelon med ØS-grøn som anker.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55595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ØKONOMISTYRELSEN · LEDELSESOVERBLIK · AUGUST 2026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spc="120">
                <a:solidFill>
                  <a:srgbClr val="FFFFFF"/>
                </a:solidFill>
                <a:latin typeface="IBM Plex Mon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7432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BM Plex Sans"/>
              </a:rPr>
              <a:t>Årets resultater</a:t>
            </a:r>
          </a:p>
        </p:txBody>
      </p:sp>
      <p:pic>
        <p:nvPicPr>
          <p:cNvPr id="6" name="Picture 5" descr="oes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3252"/>
            <a:ext cx="1417320" cy="3887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fokusområder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163068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15544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Digitalisering af økonomiprocesser på tværs af staten.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289048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212848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Øget gennemsigtighed i statsregnskabet.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2947416"/>
            <a:ext cx="139700" cy="1397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2871216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Stærkere datagrundlag for politiske beslutninger.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3605784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3529584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Reduktion af administrative byrder.</a:t>
            </a:r>
          </a:p>
        </p:txBody>
      </p:sp>
      <p:pic>
        <p:nvPicPr>
          <p:cNvPr id="14" name="Picture 13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Før og efter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0" y="1554480"/>
            <a:ext cx="12700" cy="448056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FØR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Manuelle indberetninger, spredte systemer, lange svartider.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EFTER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Samlet platform, automatiske flows, realtids-overblik.</a:t>
            </a:r>
          </a:p>
        </p:txBody>
      </p:sp>
      <p:pic>
        <p:nvPicPr>
          <p:cNvPr id="11" name="Picture 10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2194560"/>
            <a:ext cx="76200" cy="237744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2194560"/>
            <a:ext cx="96012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0000"/>
                </a:solidFill>
                <a:latin typeface="IBM Plex Sans"/>
              </a:rPr>
              <a:t>Gode beslutninger bygger på pålidelige 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20">
                <a:solidFill>
                  <a:srgbClr val="6B6B6B"/>
                </a:solidFill>
                <a:latin typeface="IBM Plex Mono"/>
              </a:rPr>
              <a:t>— ØKONOMISTYRELSEN</a:t>
            </a:r>
          </a:p>
        </p:txBody>
      </p:sp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Året i 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60604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1,2 mio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BEHANDLEDE BILAG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6986" y="2606040"/>
            <a:ext cx="3417722" cy="23774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1306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1306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EFFEKTIVISERING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70468" y="260604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4788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99,8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4788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OPPETID %</a:t>
            </a:r>
          </a:p>
        </p:txBody>
      </p:sp>
      <p:pic>
        <p:nvPicPr>
          <p:cNvPr id="15" name="Picture 14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Budgetoversigt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" y="1554480"/>
          <a:ext cx="10984687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6171"/>
                <a:gridCol w="2746171"/>
                <a:gridCol w="2746171"/>
                <a:gridCol w="2746174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OMRÅDE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ANSVAR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BUDGET (MIO)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AFVIGELSE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Drift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240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−2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Udvikling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118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+5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Support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64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544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5361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Årets resultater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19456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42316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ED5E66"/>
                </a:solidFill>
                <a:latin typeface="IBM Plex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4048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IBM Plex Sans"/>
              </a:rPr>
              <a:t>Digitalisering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306324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32918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327355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Økonomi &amp; budget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" y="393192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4160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344" y="41422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Næste skridt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" y="480060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BAGGRUNDSBILLEDE 16:9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3017520"/>
            <a:ext cx="8229600" cy="310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502920" tIns="457200" bIns="457200"/>
          <a:lstStyle/>
          <a:p>
            <a:pPr algn="l">
              <a:lnSpc>
                <a:spcPct val="104000"/>
              </a:lnSpc>
              <a:spcAft>
                <a:spcPts val="1400"/>
              </a:spcAft>
            </a:pPr>
            <a:r>
              <a:rPr sz="4400" b="1">
                <a:solidFill>
                  <a:srgbClr val="000000"/>
                </a:solidFill>
                <a:latin typeface="IBM Plex Sans"/>
              </a:rPr>
              <a:t>Stort billede, stærk åbning.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IBM Plex Sans"/>
              </a:rPr>
              <a:t>Overlay-boks med hård shadow oven på fuldt baggrundsbillede.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indsatsområder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1488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4231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Effektivitet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Færre manuelle trin gennem automatisering.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1746" y="2148840"/>
            <a:ext cx="3448202" cy="32918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6066" y="2423160"/>
            <a:ext cx="457200" cy="4572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6066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Gennemsigtighed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6066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Det fremhævede kort — gul flade, kun ét per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9988" y="21488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4308" y="24231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4308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Datagrundlag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4308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Bedre tal til politiske beslutninger.</a:t>
            </a:r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Året i fire kvartaler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Behov afdækkes.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9131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9675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9675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Løsninger formes.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5302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5846" y="2423160"/>
            <a:ext cx="237744" cy="237744"/>
          </a:xfrm>
          <a:prstGeom prst="rect">
            <a:avLst/>
          </a:prstGeom>
          <a:solidFill>
            <a:srgbClr val="ED5E66"/>
          </a:solidFill>
          <a:ln w="38100">
            <a:solidFill>
              <a:srgbClr val="ED5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5846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6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Udrulning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6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Vi er her nu.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42017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017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017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Evaluering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017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Læring og justering.</a:t>
            </a:r>
          </a:p>
        </p:txBody>
      </p:sp>
      <p:pic>
        <p:nvPicPr>
          <p:cNvPr id="25" name="Picture 24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920240"/>
            <a:ext cx="10984687" cy="25603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47548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33333"/>
                </a:solidFill>
                <a:latin typeface="IBM Plex Sans"/>
              </a:rPr>
              <a:t>Effektivisering år over år — positivt tal bærer ØS-grøn.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Budget pr. område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6276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Drift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155448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15184" y="1554480"/>
            <a:ext cx="778428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36631" y="162763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240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4505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Udvikling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15184" y="237744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15184" y="2377440"/>
            <a:ext cx="3814300" cy="50292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36631" y="24505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118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32735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320040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15184" y="3200400"/>
            <a:ext cx="210175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6631" y="327355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64</a:t>
            </a:r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828800"/>
            <a:ext cx="2377440" cy="23774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PORTRÆT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76200" cy="18288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0" y="182880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00000"/>
                </a:solidFill>
                <a:latin typeface="IBM Plex Sans"/>
              </a:rPr>
              <a:t>“Gode beslutninger bygger på pålidelige tal.”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Økonomistyrelsen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STATENS ØKONOMIFORVALTNING</a:t>
            </a:r>
          </a:p>
        </p:txBody>
      </p:sp>
      <p:pic>
        <p:nvPicPr>
          <p:cNvPr id="9" name="Picture 8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286000"/>
            <a:ext cx="10984687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00000"/>
                </a:solidFill>
                <a:latin typeface="IBM Plex Sans"/>
              </a:rPr>
              <a:t>Tak.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411480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066B43"/>
          </a:solidFill>
          <a:ln w="25400">
            <a:solidFill>
              <a:srgbClr val="066B43"/>
            </a:solidFill>
          </a:ln>
          <a:effectLst>
            <a:outerShdw blurRad="0" dist="508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spc="120">
                <a:solidFill>
                  <a:srgbClr val="FFFFFF"/>
                </a:solidFill>
                <a:latin typeface="IBM Plex Mono"/>
              </a:rPr>
              <a:t>OES@OES.DK →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