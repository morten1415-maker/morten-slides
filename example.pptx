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embeddedFontLst>
    <p:embeddedFont>
      <p:font typeface="IBM Plex Sans" pitchFamily="34" charset="0" panose="020B0503050203000203"/>
      <p:regular r:id="rId26"/>
      <p:bold r:id="rId27"/>
    </p:embeddedFont>
    <p:embeddedFont>
      <p:font typeface="IBM Plex Mono" pitchFamily="49" charset="0" panose="020B0509050203000203"/>
      <p:regular r:id="rId28"/>
      <p:bold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5559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ØKONOMISTYRELSEN · LEDELSESOVERBLIK · AUGUST 2026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pic>
        <p:nvPicPr>
          <p:cNvPr id="6" name="Picture 5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3252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6306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2890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2128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29474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8712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36057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295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pic>
        <p:nvPicPr>
          <p:cNvPr id="14" name="Picture 13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554480"/>
            <a:ext cx="12700" cy="448056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pic>
        <p:nvPicPr>
          <p:cNvPr id="11" name="Picture 10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60604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16" name="Picture 1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15544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8" name="Picture 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54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5361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19456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4231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4048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0632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2918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2735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39319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160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142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48006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FULL-BLEED BILLEDE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0"/>
            <a:ext cx="8229600" cy="640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77900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spc="100">
                <a:solidFill>
                  <a:srgbClr val="ED5E66"/>
                </a:solidFill>
                <a:latin typeface="IBM Plex Mono"/>
              </a:rPr>
              <a:t>FOTO   </a:t>
            </a:r>
            <a:r>
              <a:rPr sz="1800">
                <a:solidFill>
                  <a:srgbClr val="FFFFFF"/>
                </a:solidFill>
                <a:latin typeface="IBM Plex Sans"/>
              </a:rPr>
              <a:t>Full-bleed billede med caption i sort stribe.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Billede til venstre, tekst til højre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554480"/>
            <a:ext cx="5029200" cy="448056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BILLEDE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19672" y="16306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5432" y="155448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Halv-til-halv layout med skarpt billed-felt.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19672" y="249936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5432" y="242316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image_left=True spejler layoutet.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19672" y="3368040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32918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Billedet får 2px sort kant som alt andet.</a:t>
            </a:r>
          </a:p>
        </p:txBody>
      </p:sp>
      <p:pic>
        <p:nvPicPr>
          <p:cNvPr id="13" name="Picture 12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Billed-grid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554480"/>
            <a:ext cx="3509162" cy="21259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1266" y="1554480"/>
            <a:ext cx="3509162" cy="21259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9028" y="1554480"/>
            <a:ext cx="3509162" cy="21259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909060"/>
            <a:ext cx="3509162" cy="21259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1266" y="3909060"/>
            <a:ext cx="3509162" cy="21259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9028" y="3909060"/>
            <a:ext cx="3509162" cy="21259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06</a:t>
            </a:r>
          </a:p>
        </p:txBody>
      </p:sp>
      <p:pic>
        <p:nvPicPr>
          <p:cNvPr id="12" name="Picture 11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1488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4231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42316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pic>
        <p:nvPicPr>
          <p:cNvPr id="25" name="Picture 2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vs.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965960"/>
            <a:ext cx="53035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194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000000"/>
                </a:solidFill>
                <a:latin typeface="IBM Plex Mono"/>
              </a:rPr>
              <a:t>I DAG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918460"/>
            <a:ext cx="201168" cy="201168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Manuelle indberetninger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467100"/>
            <a:ext cx="201168" cy="201168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4290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Spredte systemer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" y="4015740"/>
            <a:ext cx="201168" cy="201168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977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Kendt af brugerne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1965960"/>
            <a:ext cx="53035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2194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000000"/>
                </a:solidFill>
                <a:latin typeface="IBM Plex Mono"/>
              </a:rPr>
              <a:t>EFTER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47104" y="2918460"/>
            <a:ext cx="201168" cy="201168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Automatiske flows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47104" y="3467100"/>
            <a:ext cx="201168" cy="201168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2864" y="34290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Samlet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47104" y="4015740"/>
            <a:ext cx="201168" cy="201168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977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Realtids-overblik</a:t>
            </a:r>
          </a:p>
        </p:txBody>
      </p:sp>
      <p:pic>
        <p:nvPicPr>
          <p:cNvPr id="22" name="Picture 21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554480"/>
            <a:ext cx="10984687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389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627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16276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50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23774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23774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24505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273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32004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32004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32735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19" name="Picture 1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pic>
        <p:nvPicPr>
          <p:cNvPr id="9" name="Picture 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984687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