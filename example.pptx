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embeddedFontLst>
    <p:embeddedFont>
      <p:font typeface="IBM Plex Sans" pitchFamily="34" charset="0" panose="020B0503050203000203"/>
      <p:regular r:id="rId26"/>
      <p:bold r:id="rId27"/>
    </p:embeddedFont>
    <p:embeddedFont>
      <p:font typeface="IBM Plex Mono" pitchFamily="49" charset="0" panose="020B0509050203000203"/>
      <p:regular r:id="rId28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1554480"/>
            <a:ext cx="10058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>
            <a:outerShdw blurRad="0" dist="101600" dir="2700000" rotWithShape="0">
              <a:srgbClr val="066B43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02920" bIns="502920"/>
          <a:lstStyle/>
          <a:p>
            <a:pPr algn="l">
              <a:lnSpc>
                <a:spcPct val="102000"/>
              </a:lnSpc>
              <a:spcAft>
                <a:spcPts val="2000"/>
              </a:spcAft>
            </a:pPr>
            <a:r>
              <a:rPr sz="5800" b="1">
                <a:solidFill>
                  <a:srgbClr val="000000"/>
                </a:solidFill>
                <a:latin typeface="IBM Plex Sans"/>
              </a:rPr>
              <a:t>Årsrapport 2026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Et slidedeck i Økonomistyrelsens identitet — bygget på den brutalistiske skabelon med ØS-grøn som anker.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5595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ØKONOMISTYRELSEN · LEDELSESOVERBLIK · AUGUST 2026</a:t>
            </a:r>
          </a:p>
        </p:txBody>
      </p:sp>
      <p:pic>
        <p:nvPicPr>
          <p:cNvPr id="6" name="Picture 5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spc="120">
                <a:solidFill>
                  <a:srgbClr val="FFFFFF"/>
                </a:solidFill>
                <a:latin typeface="IBM Plex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BM Plex Sans"/>
              </a:rPr>
              <a:t>Årets resultater</a:t>
            </a:r>
          </a:p>
        </p:txBody>
      </p:sp>
      <p:pic>
        <p:nvPicPr>
          <p:cNvPr id="6" name="Picture 5" descr="oe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3252"/>
            <a:ext cx="1417320" cy="388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Tre fokusområder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63068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Digitalisering af økonomiprocesser på tværs af staten.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289048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2128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Øget gennemsigtighed i statsregnskabet.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2947416"/>
            <a:ext cx="139700" cy="1397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87121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Stærkere datagrundlag for politiske beslutninger.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3605784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352958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Reduktion af administrative byrder.</a:t>
            </a:r>
          </a:p>
        </p:txBody>
      </p:sp>
      <p:pic>
        <p:nvPicPr>
          <p:cNvPr id="14" name="Picture 13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Før og efter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554480"/>
            <a:ext cx="12700" cy="448056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FØR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Manuelle indberetninger, spredte systemer, lange svartider.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EFTER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Samlet platform, automatiske flows, realtids-overblik.</a:t>
            </a:r>
          </a:p>
        </p:txBody>
      </p:sp>
      <p:pic>
        <p:nvPicPr>
          <p:cNvPr id="11" name="Picture 10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2194560"/>
            <a:ext cx="76200" cy="237744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219456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0000"/>
                </a:solidFill>
                <a:latin typeface="IBM Plex Sans"/>
              </a:rPr>
              <a:t>Gode beslutninger bygger på pålidelige 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spc="120">
                <a:solidFill>
                  <a:srgbClr val="6B6B6B"/>
                </a:solidFill>
                <a:latin typeface="IBM Plex Mono"/>
              </a:rPr>
              <a:t>— ØKONOMISTYRELSEN</a:t>
            </a:r>
          </a:p>
        </p:txBody>
      </p:sp>
      <p:pic>
        <p:nvPicPr>
          <p:cNvPr id="7" name="Picture 6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Året i 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606040"/>
            <a:ext cx="3417722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926080"/>
            <a:ext cx="2869082" cy="11887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IBM Plex Mono"/>
              </a:rPr>
              <a:t>1,2 mio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20624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BEHANDLEDE BILAG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6986" y="2606040"/>
            <a:ext cx="3417722" cy="2377440"/>
          </a:xfrm>
          <a:prstGeom prst="rect">
            <a:avLst/>
          </a:prstGeom>
          <a:solidFill>
            <a:srgbClr val="FEF3C7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ED5E66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1306" y="2926080"/>
            <a:ext cx="2869082" cy="11887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066B43"/>
                </a:solidFill>
                <a:latin typeface="IBM Plex Mono"/>
              </a:rPr>
              <a:t>+18%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306" y="420624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EFFEKTIVISERING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0468" y="2606040"/>
            <a:ext cx="3417722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4788" y="2926080"/>
            <a:ext cx="2869082" cy="11887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IBM Plex Mono"/>
              </a:rPr>
              <a:t>99,8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4788" y="420624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OPPETID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KILDE: STATENS REGNSKAB, 2026</a:t>
            </a:r>
          </a:p>
        </p:txBody>
      </p:sp>
      <p:pic>
        <p:nvPicPr>
          <p:cNvPr id="16" name="Picture 15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Budgetoversigt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554480"/>
          <a:ext cx="10984687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6171"/>
                <a:gridCol w="2746171"/>
                <a:gridCol w="2746171"/>
                <a:gridCol w="274617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OMRÅDE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ANSVAR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BUDGET (MIO)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AFVIGELSE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Drift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ØS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240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−2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Udvikling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ØS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118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+5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Support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ØS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64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0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KILDE: STATENS REGNSKAB, 2026</a:t>
            </a:r>
          </a:p>
        </p:txBody>
      </p:sp>
      <p:pic>
        <p:nvPicPr>
          <p:cNvPr id="8" name="Picture 7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15361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Årets resultater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19456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423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ED5E66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4048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"/>
              </a:rPr>
              <a:t>Digitalisering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306324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32735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Økonomi &amp; budget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93192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160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4142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Næste skridt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480060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BAGGRUNDSBILLEDE 16:9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3017520"/>
            <a:ext cx="82296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>
            <a:outerShdw blurRad="0" dist="1016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02920" tIns="457200" bIns="457200"/>
          <a:lstStyle/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4400" b="1">
                <a:solidFill>
                  <a:srgbClr val="000000"/>
                </a:solidFill>
                <a:latin typeface="IBM Plex Sans"/>
              </a:rPr>
              <a:t>Stort billede, stærk åbning.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333333"/>
                </a:solidFill>
                <a:latin typeface="IBM Plex Sans"/>
              </a:rPr>
              <a:t>Overlay-boks med hård shadow oven på fuldt baggrundsbillede.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FULL-BLEED BILLEDE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0"/>
            <a:ext cx="8229600" cy="640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7790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00">
                <a:solidFill>
                  <a:srgbClr val="ED5E66"/>
                </a:solidFill>
                <a:latin typeface="IBM Plex Mono"/>
              </a:rPr>
              <a:t>FOTO   </a:t>
            </a:r>
            <a:r>
              <a:rPr sz="1800">
                <a:solidFill>
                  <a:srgbClr val="FFFFFF"/>
                </a:solidFill>
                <a:latin typeface="IBM Plex Sans"/>
              </a:rPr>
              <a:t>Full-bleed billede med caption i sort stribe.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Billede til venstre, tekst til højre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554480"/>
            <a:ext cx="5029200" cy="448056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BILLEDE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9672" y="163068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5544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333333"/>
                </a:solidFill>
                <a:latin typeface="IBM Plex Sans"/>
              </a:rPr>
              <a:t>Halv-til-halv layout med skarpt billed-felt.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672" y="249936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24231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333333"/>
                </a:solidFill>
                <a:latin typeface="IBM Plex Sans"/>
              </a:rPr>
              <a:t>image_left=True spejler layoutet.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9672" y="3368040"/>
            <a:ext cx="139700" cy="1397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32918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333333"/>
                </a:solidFill>
                <a:latin typeface="IBM Plex Sans"/>
              </a:rPr>
              <a:t>Billedet får 2px sort kant som alt andet.</a:t>
            </a:r>
          </a:p>
        </p:txBody>
      </p:sp>
      <p:pic>
        <p:nvPicPr>
          <p:cNvPr id="13" name="Picture 12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Billed-grid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554480"/>
            <a:ext cx="3509162" cy="21259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1266" y="1554480"/>
            <a:ext cx="3509162" cy="21259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9028" y="1554480"/>
            <a:ext cx="3509162" cy="21259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3909060"/>
            <a:ext cx="3509162" cy="21259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1266" y="3909060"/>
            <a:ext cx="3509162" cy="21259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9028" y="3909060"/>
            <a:ext cx="3509162" cy="212598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06</a:t>
            </a:r>
          </a:p>
        </p:txBody>
      </p:sp>
      <p:pic>
        <p:nvPicPr>
          <p:cNvPr id="12" name="Picture 11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Tre indsatsområder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148840"/>
            <a:ext cx="344820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423160"/>
            <a:ext cx="4572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Effektivitet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118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Færre manuelle trin gennem automatisering.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746" y="2148840"/>
            <a:ext cx="3448202" cy="3291840"/>
          </a:xfrm>
          <a:prstGeom prst="rect">
            <a:avLst/>
          </a:prstGeom>
          <a:solidFill>
            <a:srgbClr val="FEF3C7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6066" y="2423160"/>
            <a:ext cx="457200" cy="4572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6066" y="30632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Gennemsigtighed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066" y="36118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Det fremhævede kort — gul flade, kun ét per slide.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9988" y="2148840"/>
            <a:ext cx="344820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4308" y="2423160"/>
            <a:ext cx="4572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4308" y="30632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Datagrundlag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4308" y="36118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Bedre tal til politiske beslutninger.</a:t>
            </a:r>
          </a:p>
        </p:txBody>
      </p:sp>
      <p:pic>
        <p:nvPicPr>
          <p:cNvPr id="18" name="Picture 17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Året i fire kvartaler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242316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283464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20040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70332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Behov afdækkes.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9131" y="251460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9675" y="242316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9675" y="283464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320040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9675" y="370332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Løsninger formes.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5302" y="251460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46" y="2423160"/>
            <a:ext cx="237744" cy="237744"/>
          </a:xfrm>
          <a:prstGeom prst="rect">
            <a:avLst/>
          </a:prstGeom>
          <a:solidFill>
            <a:srgbClr val="ED5E66"/>
          </a:solidFill>
          <a:ln w="38100">
            <a:solidFill>
              <a:srgbClr val="ED5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6" y="283464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6" y="320040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Udrulning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6" y="370332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Vi er her nu.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2017" y="242316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017" y="283464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017" y="320040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Evaluering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017" y="370332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Læring og justering.</a:t>
            </a:r>
          </a:p>
        </p:txBody>
      </p:sp>
      <p:pic>
        <p:nvPicPr>
          <p:cNvPr id="25" name="Picture 24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Før vs. efter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6596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000000"/>
                </a:solidFill>
                <a:latin typeface="IBM Plex Mono"/>
              </a:rPr>
              <a:t>I DAG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918460"/>
            <a:ext cx="201168" cy="201168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Manuelle indberetninger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467100"/>
            <a:ext cx="201168" cy="201168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3429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Spredte systemer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4015740"/>
            <a:ext cx="201168" cy="201168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977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Kendt af brugerne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96596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ED5E66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20">
                <a:solidFill>
                  <a:srgbClr val="000000"/>
                </a:solidFill>
                <a:latin typeface="IBM Plex Mono"/>
              </a:rPr>
              <a:t>EFTER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2918460"/>
            <a:ext cx="201168" cy="201168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Automatiske flows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7104" y="3467100"/>
            <a:ext cx="201168" cy="201168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3429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Samlet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47104" y="4015740"/>
            <a:ext cx="201168" cy="201168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3977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IBM Plex Sans"/>
              </a:rPr>
              <a:t>Realtids-overblik</a:t>
            </a:r>
          </a:p>
        </p:txBody>
      </p:sp>
      <p:pic>
        <p:nvPicPr>
          <p:cNvPr id="22" name="Picture 21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554480"/>
            <a:ext cx="10984687" cy="2560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066B43"/>
                </a:solidFill>
                <a:latin typeface="IBM Plex Mono"/>
              </a:rPr>
              <a:t>+18%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333333"/>
                </a:solidFill>
                <a:latin typeface="IBM Plex Sans"/>
              </a:rPr>
              <a:t>Effektivisering år over år — positivt tal bærer ØS-grøn.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KILDE: STATENS REGNSKAB, 2026</a:t>
            </a:r>
          </a:p>
        </p:txBody>
      </p:sp>
      <p:pic>
        <p:nvPicPr>
          <p:cNvPr id="7" name="Picture 6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9846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Budget pr. område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173600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627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Drift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5184" y="155448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5184" y="1554480"/>
            <a:ext cx="7784287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36631" y="1627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450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Udvikling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237744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15184" y="2377440"/>
            <a:ext cx="3814300" cy="50292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36631" y="24505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735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320040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15184" y="3200400"/>
            <a:ext cx="2101757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6631" y="3273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KILDE: STATENS REGNSKAB, 2026</a:t>
            </a:r>
          </a:p>
        </p:txBody>
      </p:sp>
      <p:pic>
        <p:nvPicPr>
          <p:cNvPr id="19" name="Picture 18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1828800"/>
            <a:ext cx="2377440" cy="23774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PORTRÆT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76200" cy="18288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8288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00000"/>
                </a:solidFill>
                <a:latin typeface="IBM Plex Sans"/>
              </a:rPr>
              <a:t>“Gode beslutninger bygger på pålidelige tal.”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Økonomistyrelsen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STATENS ØKONOMIFORVALTNING</a:t>
            </a:r>
          </a:p>
        </p:txBody>
      </p:sp>
      <p:pic>
        <p:nvPicPr>
          <p:cNvPr id="9" name="Picture 8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286000"/>
            <a:ext cx="1098468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000000"/>
                </a:solidFill>
                <a:latin typeface="IBM Plex Sans"/>
              </a:rPr>
              <a:t>Tak.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41148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066B43"/>
          </a:solidFill>
          <a:ln w="25400">
            <a:solidFill>
              <a:srgbClr val="066B43"/>
            </a:solidFill>
          </a:ln>
          <a:effectLst>
            <a:outerShdw blurRad="0" dist="50800" dir="2700000" rotWithShape="0">
              <a:srgbClr val="ED5E66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spc="120">
                <a:solidFill>
                  <a:srgbClr val="FFFFFF"/>
                </a:solidFill>
                <a:latin typeface="IBM Plex Mono"/>
              </a:rPr>
              <a:t>OES@OES.DK →</a:t>
            </a:r>
          </a:p>
        </p:txBody>
      </p:sp>
      <p:pic>
        <p:nvPicPr>
          <p:cNvPr id="6" name="Picture 5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343" y="6215427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