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" y="1554480"/>
            <a:ext cx="10058400" cy="3657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>
            <a:outerShdw blurRad="0" dist="101600" dir="2700000" rotWithShape="0">
              <a:srgbClr val="066B43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 tIns="502920" bIns="502920"/>
          <a:lstStyle/>
          <a:p>
            <a:pPr algn="l">
              <a:lnSpc>
                <a:spcPct val="102000"/>
              </a:lnSpc>
              <a:spcAft>
                <a:spcPts val="2000"/>
              </a:spcAft>
            </a:pPr>
            <a:r>
              <a:rPr sz="5800" b="1">
                <a:solidFill>
                  <a:srgbClr val="000000"/>
                </a:solidFill>
                <a:latin typeface="IBM Plex Sans"/>
              </a:rPr>
              <a:t>Årsrapport 2026.</a:t>
            </a:r>
          </a:p>
          <a:p>
            <a:pPr algn="l">
              <a:lnSpc>
                <a:spcPct val="125000"/>
              </a:lnSpc>
            </a:pPr>
            <a:r>
              <a:rPr sz="2200" b="0">
                <a:solidFill>
                  <a:srgbClr val="333333"/>
                </a:solidFill>
                <a:latin typeface="IBM Plex Sans"/>
              </a:rPr>
              <a:t>Et slidedeck i Økonomistyrelsens identitet — bygget på den brutalistiske skabelon med ØS-grøn som anker.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2910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spc="120">
                <a:solidFill>
                  <a:srgbClr val="6B6B6B"/>
                </a:solidFill>
                <a:latin typeface="IBM Plex Mono"/>
              </a:rPr>
              <a:t>01</a:t>
            </a:r>
          </a:p>
        </p:txBody>
      </p:sp>
      <p:pic>
        <p:nvPicPr>
          <p:cNvPr id="6" name="Picture 5" descr="oe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871" y="6327648"/>
            <a:ext cx="1417320" cy="3865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2103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spc="120">
                <a:solidFill>
                  <a:srgbClr val="FFFFFF"/>
                </a:solidFill>
                <a:latin typeface="IBM Plex Mon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7432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FFFFFF"/>
                </a:solidFill>
                <a:latin typeface="IBM Plex Sans"/>
              </a:rPr>
              <a:t>Årets resultater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2910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spc="120">
                <a:solidFill>
                  <a:srgbClr val="BDBDBD"/>
                </a:solidFill>
                <a:latin typeface="IBM Plex Mono"/>
              </a:rPr>
              <a:t>02</a:t>
            </a:r>
          </a:p>
        </p:txBody>
      </p:sp>
      <p:pic>
        <p:nvPicPr>
          <p:cNvPr id="7" name="Picture 6" descr="oes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871" y="6327648"/>
            <a:ext cx="1417320" cy="3887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051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000000"/>
                </a:solidFill>
                <a:latin typeface="IBM Plex Sans"/>
              </a:rPr>
              <a:t>Tre fokusområder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847088"/>
            <a:ext cx="640080" cy="76200"/>
          </a:xfrm>
          <a:prstGeom prst="rect">
            <a:avLst/>
          </a:prstGeom>
          <a:solidFill>
            <a:srgbClr val="06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2545080"/>
            <a:ext cx="139700" cy="139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4688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333333"/>
                </a:solidFill>
                <a:latin typeface="IBM Plex Sans"/>
              </a:rPr>
              <a:t>Digitalisering af økonomiprocesser på tværs af staten.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3203448"/>
            <a:ext cx="139700" cy="139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3127248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333333"/>
                </a:solidFill>
                <a:latin typeface="IBM Plex Sans"/>
              </a:rPr>
              <a:t>Øget gennemsigtighed i statsregnskabet.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3861816"/>
            <a:ext cx="139700" cy="139700"/>
          </a:xfrm>
          <a:prstGeom prst="rect">
            <a:avLst/>
          </a:prstGeom>
          <a:solidFill>
            <a:srgbClr val="ED5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" y="3785616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333333"/>
                </a:solidFill>
                <a:latin typeface="IBM Plex Sans"/>
              </a:rPr>
              <a:t>Stærkere datagrundlag for politiske beslutninger.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4520184"/>
            <a:ext cx="139700" cy="139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" y="4443984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333333"/>
                </a:solidFill>
                <a:latin typeface="IBM Plex Sans"/>
              </a:rPr>
              <a:t>Reduktion af administrative byrder.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62910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spc="120">
                <a:solidFill>
                  <a:srgbClr val="6B6B6B"/>
                </a:solidFill>
                <a:latin typeface="IBM Plex Mono"/>
              </a:rPr>
              <a:t>03</a:t>
            </a:r>
          </a:p>
        </p:txBody>
      </p:sp>
      <p:pic>
        <p:nvPicPr>
          <p:cNvPr id="15" name="Picture 14" descr="oe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871" y="6327648"/>
            <a:ext cx="1417320" cy="3865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051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000000"/>
                </a:solidFill>
                <a:latin typeface="IBM Plex Sans"/>
              </a:rPr>
              <a:t>Før og efter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847088"/>
            <a:ext cx="640080" cy="76200"/>
          </a:xfrm>
          <a:prstGeom prst="rect">
            <a:avLst/>
          </a:prstGeom>
          <a:solidFill>
            <a:srgbClr val="06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0" y="2743200"/>
            <a:ext cx="12700" cy="3017520"/>
          </a:xfrm>
          <a:prstGeom prst="rect">
            <a:avLst/>
          </a:prstGeom>
          <a:solidFill>
            <a:srgbClr val="E8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2743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120">
                <a:solidFill>
                  <a:srgbClr val="6B6B6B"/>
                </a:solidFill>
                <a:latin typeface="IBM Plex Mono"/>
              </a:rPr>
              <a:t>FØR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320040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333333"/>
                </a:solidFill>
                <a:latin typeface="IBM Plex Sans"/>
              </a:rPr>
              <a:t>Manuelle indberetninger, spredte systemer, lange svartider.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743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120">
                <a:solidFill>
                  <a:srgbClr val="6B6B6B"/>
                </a:solidFill>
                <a:latin typeface="IBM Plex Mono"/>
              </a:rPr>
              <a:t>EFTER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20040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333333"/>
                </a:solidFill>
                <a:latin typeface="IBM Plex Sans"/>
              </a:rPr>
              <a:t>Samlet platform, automatiske flows, realtids-overblik.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2910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spc="120">
                <a:solidFill>
                  <a:srgbClr val="6B6B6B"/>
                </a:solidFill>
                <a:latin typeface="IBM Plex Mono"/>
              </a:rPr>
              <a:t>04</a:t>
            </a:r>
          </a:p>
        </p:txBody>
      </p:sp>
      <p:pic>
        <p:nvPicPr>
          <p:cNvPr id="12" name="Picture 11" descr="oe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871" y="6327648"/>
            <a:ext cx="1417320" cy="3865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" y="2194560"/>
            <a:ext cx="76200" cy="2377440"/>
          </a:xfrm>
          <a:prstGeom prst="rect">
            <a:avLst/>
          </a:prstGeom>
          <a:solidFill>
            <a:srgbClr val="ED5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2194560"/>
            <a:ext cx="960120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000000"/>
                </a:solidFill>
                <a:latin typeface="IBM Plex Sans"/>
              </a:rPr>
              <a:t>Gode beslutninger bygger på pålidelige 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" y="4663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spc="120">
                <a:solidFill>
                  <a:srgbClr val="6B6B6B"/>
                </a:solidFill>
                <a:latin typeface="IBM Plex Mono"/>
              </a:rPr>
              <a:t>— ØKONOMISTYRELSEN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2910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spc="120">
                <a:solidFill>
                  <a:srgbClr val="6B6B6B"/>
                </a:solidFill>
                <a:latin typeface="IBM Plex Mono"/>
              </a:rPr>
              <a:t>05</a:t>
            </a:r>
          </a:p>
        </p:txBody>
      </p:sp>
      <p:pic>
        <p:nvPicPr>
          <p:cNvPr id="8" name="Picture 7" descr="oe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871" y="6327648"/>
            <a:ext cx="1417320" cy="3865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051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IBM Plex Sans"/>
              </a:rPr>
              <a:t>Året i 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847088"/>
            <a:ext cx="640080" cy="76200"/>
          </a:xfrm>
          <a:prstGeom prst="rect">
            <a:avLst/>
          </a:prstGeom>
          <a:solidFill>
            <a:srgbClr val="06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2743200"/>
            <a:ext cx="3417722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>
            <a:outerShdw blurRad="0" dist="63500" dir="2700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3063240"/>
            <a:ext cx="286908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IBM Plex Mono"/>
              </a:rPr>
              <a:t>1,2 mio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343400"/>
            <a:ext cx="286908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spc="120">
                <a:solidFill>
                  <a:srgbClr val="6B6B6B"/>
                </a:solidFill>
                <a:latin typeface="IBM Plex Mono"/>
              </a:rPr>
              <a:t>BEHANDLEDE BILAG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6986" y="2743200"/>
            <a:ext cx="3417722" cy="2377440"/>
          </a:xfrm>
          <a:prstGeom prst="rect">
            <a:avLst/>
          </a:prstGeom>
          <a:solidFill>
            <a:srgbClr val="FEF3C7"/>
          </a:solidFill>
          <a:ln w="25400">
            <a:solidFill>
              <a:srgbClr val="000000"/>
            </a:solidFill>
          </a:ln>
          <a:effectLst>
            <a:outerShdw blurRad="0" dist="63500" dir="2700000" rotWithShape="0">
              <a:srgbClr val="ED5E66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1306" y="3063240"/>
            <a:ext cx="286908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066B43"/>
                </a:solidFill>
                <a:latin typeface="IBM Plex Mono"/>
              </a:rPr>
              <a:t>+18%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1306" y="4343400"/>
            <a:ext cx="286908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spc="120">
                <a:solidFill>
                  <a:srgbClr val="6B6B6B"/>
                </a:solidFill>
                <a:latin typeface="IBM Plex Mono"/>
              </a:rPr>
              <a:t>EFFEKTIVISERING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70468" y="2743200"/>
            <a:ext cx="3417722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>
            <a:outerShdw blurRad="0" dist="63500" dir="2700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44788" y="3063240"/>
            <a:ext cx="286908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IBM Plex Mono"/>
              </a:rPr>
              <a:t>99,8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4788" y="4343400"/>
            <a:ext cx="286908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spc="120">
                <a:solidFill>
                  <a:srgbClr val="6B6B6B"/>
                </a:solidFill>
                <a:latin typeface="IBM Plex Mono"/>
              </a:rPr>
              <a:t>OPPETID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62910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spc="120">
                <a:solidFill>
                  <a:srgbClr val="6B6B6B"/>
                </a:solidFill>
                <a:latin typeface="IBM Plex Mono"/>
              </a:rPr>
              <a:t>06</a:t>
            </a:r>
          </a:p>
        </p:txBody>
      </p:sp>
      <p:pic>
        <p:nvPicPr>
          <p:cNvPr id="16" name="Picture 15" descr="oe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871" y="6327648"/>
            <a:ext cx="1417320" cy="3865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051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IBM Plex Sans"/>
              </a:rPr>
              <a:t>Budgetoversigt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847088"/>
            <a:ext cx="640080" cy="76200"/>
          </a:xfrm>
          <a:prstGeom prst="rect">
            <a:avLst/>
          </a:prstGeom>
          <a:solidFill>
            <a:srgbClr val="06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3504" y="2468880"/>
          <a:ext cx="10984687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6171"/>
                <a:gridCol w="2746171"/>
                <a:gridCol w="2746171"/>
                <a:gridCol w="2746174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spc="120">
                          <a:solidFill>
                            <a:srgbClr val="FFFFFF"/>
                          </a:solidFill>
                          <a:latin typeface="IBM Plex Mono"/>
                        </a:rPr>
                        <a:t>OMRÅDE</a:t>
                      </a:r>
                    </a:p>
                  </a:txBody>
                  <a:tcPr marL="164592" marT="73152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spc="120">
                          <a:solidFill>
                            <a:srgbClr val="FFFFFF"/>
                          </a:solidFill>
                          <a:latin typeface="IBM Plex Mono"/>
                        </a:rPr>
                        <a:t>ANSVAR</a:t>
                      </a:r>
                    </a:p>
                  </a:txBody>
                  <a:tcPr marL="164592" marT="73152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spc="120">
                          <a:solidFill>
                            <a:srgbClr val="FFFFFF"/>
                          </a:solidFill>
                          <a:latin typeface="IBM Plex Mono"/>
                        </a:rPr>
                        <a:t>BUDGET (MIO)</a:t>
                      </a:r>
                    </a:p>
                  </a:txBody>
                  <a:tcPr marL="164592" marT="73152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spc="120">
                          <a:solidFill>
                            <a:srgbClr val="FFFFFF"/>
                          </a:solidFill>
                          <a:latin typeface="IBM Plex Mono"/>
                        </a:rPr>
                        <a:t>AFVIGELSE</a:t>
                      </a:r>
                    </a:p>
                  </a:txBody>
                  <a:tcPr marL="164592" marT="73152">
                    <a:solidFill>
                      <a:srgbClr val="00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IBM Plex Sans"/>
                        </a:rPr>
                        <a:t>Drift</a:t>
                      </a:r>
                    </a:p>
                  </a:txBody>
                  <a:tcPr marL="164592" marT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IBM Plex Sans"/>
                        </a:rPr>
                        <a:t>ØS</a:t>
                      </a:r>
                    </a:p>
                  </a:txBody>
                  <a:tcPr marL="164592" marT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333"/>
                          </a:solidFill>
                          <a:latin typeface="IBM Plex Mono"/>
                        </a:rPr>
                        <a:t>240</a:t>
                      </a:r>
                    </a:p>
                  </a:txBody>
                  <a:tcPr marL="164592" marT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333"/>
                          </a:solidFill>
                          <a:latin typeface="IBM Plex Mono"/>
                        </a:rPr>
                        <a:t>−2</a:t>
                      </a:r>
                    </a:p>
                  </a:txBody>
                  <a:tcPr marL="164592" marT="5486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IBM Plex Sans"/>
                        </a:rPr>
                        <a:t>Udvikling</a:t>
                      </a:r>
                    </a:p>
                  </a:txBody>
                  <a:tcPr marL="164592" marT="54864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IBM Plex Sans"/>
                        </a:rPr>
                        <a:t>ØS</a:t>
                      </a:r>
                    </a:p>
                  </a:txBody>
                  <a:tcPr marL="164592" marT="54864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333"/>
                          </a:solidFill>
                          <a:latin typeface="IBM Plex Mono"/>
                        </a:rPr>
                        <a:t>118</a:t>
                      </a:r>
                    </a:p>
                  </a:txBody>
                  <a:tcPr marL="164592" marT="54864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333"/>
                          </a:solidFill>
                          <a:latin typeface="IBM Plex Mono"/>
                        </a:rPr>
                        <a:t>+5</a:t>
                      </a:r>
                    </a:p>
                  </a:txBody>
                  <a:tcPr marL="164592" marT="54864">
                    <a:solidFill>
                      <a:srgbClr val="FEF3C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IBM Plex Sans"/>
                        </a:rPr>
                        <a:t>Support</a:t>
                      </a:r>
                    </a:p>
                  </a:txBody>
                  <a:tcPr marL="164592" marT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IBM Plex Sans"/>
                        </a:rPr>
                        <a:t>ØS</a:t>
                      </a:r>
                    </a:p>
                  </a:txBody>
                  <a:tcPr marL="164592" marT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333"/>
                          </a:solidFill>
                          <a:latin typeface="IBM Plex Mono"/>
                        </a:rPr>
                        <a:t>64</a:t>
                      </a:r>
                    </a:p>
                  </a:txBody>
                  <a:tcPr marL="164592" marT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333"/>
                          </a:solidFill>
                          <a:latin typeface="IBM Plex Mono"/>
                        </a:rPr>
                        <a:t>0</a:t>
                      </a:r>
                    </a:p>
                  </a:txBody>
                  <a:tcPr marL="164592" marT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3504" y="62910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spc="120">
                <a:solidFill>
                  <a:srgbClr val="6B6B6B"/>
                </a:solidFill>
                <a:latin typeface="IBM Plex Mono"/>
              </a:rPr>
              <a:t>07</a:t>
            </a:r>
          </a:p>
        </p:txBody>
      </p:sp>
      <p:pic>
        <p:nvPicPr>
          <p:cNvPr id="8" name="Picture 7" descr="oe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871" y="6327648"/>
            <a:ext cx="1417320" cy="3865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051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000000"/>
                </a:solidFill>
                <a:latin typeface="IBM Plex 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847088"/>
            <a:ext cx="640080" cy="76200"/>
          </a:xfrm>
          <a:prstGeom prst="rect">
            <a:avLst/>
          </a:prstGeom>
          <a:solidFill>
            <a:srgbClr val="06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21945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spc="120">
                <a:solidFill>
                  <a:srgbClr val="6B6B6B"/>
                </a:solidFill>
                <a:latin typeface="IBM Plex Mon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9344" y="217627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IBM Plex Sans"/>
              </a:rPr>
              <a:t>Årets resultater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2834640"/>
            <a:ext cx="10984687" cy="12700"/>
          </a:xfrm>
          <a:prstGeom prst="rect">
            <a:avLst/>
          </a:prstGeom>
          <a:solidFill>
            <a:srgbClr val="E8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30632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spc="120">
                <a:solidFill>
                  <a:srgbClr val="ED5E66"/>
                </a:solidFill>
                <a:latin typeface="IBM Plex Mon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344" y="30449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IBM Plex Sans"/>
              </a:rPr>
              <a:t>Digitalisering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" y="3703320"/>
            <a:ext cx="10984687" cy="12700"/>
          </a:xfrm>
          <a:prstGeom prst="rect">
            <a:avLst/>
          </a:prstGeom>
          <a:solidFill>
            <a:srgbClr val="E8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39319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spc="120">
                <a:solidFill>
                  <a:srgbClr val="6B6B6B"/>
                </a:solidFill>
                <a:latin typeface="IBM Plex Mono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9344" y="39136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IBM Plex Sans"/>
              </a:rPr>
              <a:t>Økonomi &amp; budget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" y="4572000"/>
            <a:ext cx="10984687" cy="12700"/>
          </a:xfrm>
          <a:prstGeom prst="rect">
            <a:avLst/>
          </a:prstGeom>
          <a:solidFill>
            <a:srgbClr val="E8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4800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spc="120">
                <a:solidFill>
                  <a:srgbClr val="6B6B6B"/>
                </a:solidFill>
                <a:latin typeface="IBM Plex Mono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478231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IBM Plex Sans"/>
              </a:rPr>
              <a:t>Næste skridt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" y="5440680"/>
            <a:ext cx="10984687" cy="12700"/>
          </a:xfrm>
          <a:prstGeom prst="rect">
            <a:avLst/>
          </a:prstGeom>
          <a:solidFill>
            <a:srgbClr val="E8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62910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spc="120">
                <a:solidFill>
                  <a:srgbClr val="6B6B6B"/>
                </a:solidFill>
                <a:latin typeface="IBM Plex Mono"/>
              </a:rPr>
              <a:t>08</a:t>
            </a:r>
          </a:p>
        </p:txBody>
      </p:sp>
      <p:pic>
        <p:nvPicPr>
          <p:cNvPr id="19" name="Picture 18" descr="oe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871" y="6327648"/>
            <a:ext cx="1417320" cy="3865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8E3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spc="120">
                <a:solidFill>
                  <a:srgbClr val="6B6B6B"/>
                </a:solidFill>
                <a:latin typeface="IBM Plex Mono"/>
              </a:rPr>
              <a:t>BAGGRUNDSBILLEDE 16:9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3017520"/>
            <a:ext cx="8229600" cy="31089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>
            <a:outerShdw blurRad="0" dist="101600" dir="2700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2920" rIns="502920" tIns="457200" bIns="457200"/>
          <a:lstStyle/>
          <a:p>
            <a:pPr algn="l">
              <a:lnSpc>
                <a:spcPct val="104000"/>
              </a:lnSpc>
              <a:spcAft>
                <a:spcPts val="1400"/>
              </a:spcAft>
            </a:pPr>
            <a:r>
              <a:rPr sz="4400" b="1">
                <a:solidFill>
                  <a:srgbClr val="000000"/>
                </a:solidFill>
                <a:latin typeface="IBM Plex Sans"/>
              </a:rPr>
              <a:t>Stort billede, stærk åbning.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333333"/>
                </a:solidFill>
                <a:latin typeface="IBM Plex Sans"/>
              </a:rPr>
              <a:t>Overlay-boks med hård shadow oven på fuldt baggrundsbillede.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051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000000"/>
                </a:solidFill>
                <a:latin typeface="IBM Plex Sans"/>
              </a:rPr>
              <a:t>Tre indsatsområder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847088"/>
            <a:ext cx="640080" cy="76200"/>
          </a:xfrm>
          <a:prstGeom prst="rect">
            <a:avLst/>
          </a:prstGeom>
          <a:solidFill>
            <a:srgbClr val="06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2377440"/>
            <a:ext cx="3448202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>
            <a:outerShdw blurRad="0" dist="38100" dir="2700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7824" y="2651760"/>
            <a:ext cx="457200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3291840"/>
            <a:ext cx="289956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IBM Plex Sans"/>
              </a:rPr>
              <a:t>Effektivitet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840480"/>
            <a:ext cx="289956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333333"/>
                </a:solidFill>
                <a:latin typeface="IBM Plex Sans"/>
              </a:rPr>
              <a:t>Færre manuelle trin gennem automatisering.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1746" y="2377440"/>
            <a:ext cx="3448202" cy="3291840"/>
          </a:xfrm>
          <a:prstGeom prst="rect">
            <a:avLst/>
          </a:prstGeom>
          <a:solidFill>
            <a:srgbClr val="FEF3C7"/>
          </a:solidFill>
          <a:ln w="25400">
            <a:solidFill>
              <a:srgbClr val="000000"/>
            </a:solidFill>
          </a:ln>
          <a:effectLst>
            <a:outerShdw blurRad="0" dist="38100" dir="2700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46066" y="2651760"/>
            <a:ext cx="457200" cy="457200"/>
          </a:xfrm>
          <a:prstGeom prst="rect">
            <a:avLst/>
          </a:prstGeom>
          <a:solidFill>
            <a:srgbClr val="ED5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6066" y="3291840"/>
            <a:ext cx="289956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IBM Plex Sans"/>
              </a:rPr>
              <a:t>Gennemsigtighed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6066" y="3840480"/>
            <a:ext cx="289956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333333"/>
                </a:solidFill>
                <a:latin typeface="IBM Plex Sans"/>
              </a:rPr>
              <a:t>Det fremhævede kort — gul flade, kun ét per slide.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9988" y="2377440"/>
            <a:ext cx="3448202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>
            <a:outerShdw blurRad="0" dist="38100" dir="2700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4308" y="2651760"/>
            <a:ext cx="457200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4308" y="3291840"/>
            <a:ext cx="289956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IBM Plex Sans"/>
              </a:rPr>
              <a:t>Datagrundlag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4308" y="3840480"/>
            <a:ext cx="289956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333333"/>
                </a:solidFill>
                <a:latin typeface="IBM Plex Sans"/>
              </a:rPr>
              <a:t>Bedre tal til politiske beslutninger.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62910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spc="120">
                <a:solidFill>
                  <a:srgbClr val="6B6B6B"/>
                </a:solidFill>
                <a:latin typeface="IBM Plex Mono"/>
              </a:rPr>
              <a:t>10</a:t>
            </a:r>
          </a:p>
        </p:txBody>
      </p:sp>
      <p:pic>
        <p:nvPicPr>
          <p:cNvPr id="19" name="Picture 18" descr="oe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871" y="6327648"/>
            <a:ext cx="1417320" cy="3865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051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000000"/>
                </a:solidFill>
                <a:latin typeface="IBM Plex Sans"/>
              </a:rPr>
              <a:t>Året i fire kvartaler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847088"/>
            <a:ext cx="640080" cy="76200"/>
          </a:xfrm>
          <a:prstGeom prst="rect">
            <a:avLst/>
          </a:prstGeom>
          <a:solidFill>
            <a:srgbClr val="06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834640"/>
            <a:ext cx="2526715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" y="2743200"/>
            <a:ext cx="237744" cy="237744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3154680"/>
            <a:ext cx="25632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120">
                <a:solidFill>
                  <a:srgbClr val="6B6B6B"/>
                </a:solidFill>
                <a:latin typeface="IBM Plex Mono"/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3520440"/>
            <a:ext cx="25632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IBM Plex Sans"/>
              </a:rPr>
              <a:t>Analyse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4023360"/>
            <a:ext cx="2517571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333333"/>
                </a:solidFill>
                <a:latin typeface="IBM Plex Sans"/>
              </a:rPr>
              <a:t>Behov afdækkes.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9131" y="2834640"/>
            <a:ext cx="2526715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49675" y="2743200"/>
            <a:ext cx="237744" cy="237744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49675" y="3154680"/>
            <a:ext cx="25632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120">
                <a:solidFill>
                  <a:srgbClr val="6B6B6B"/>
                </a:solidFill>
                <a:latin typeface="IBM Plex Mono"/>
              </a:rP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9675" y="3520440"/>
            <a:ext cx="25632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IBM Plex Sans"/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9675" y="4023360"/>
            <a:ext cx="2517571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333333"/>
                </a:solidFill>
                <a:latin typeface="IBM Plex Sans"/>
              </a:rPr>
              <a:t>Løsninger formes.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15302" y="2834640"/>
            <a:ext cx="2526715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5846" y="2743200"/>
            <a:ext cx="237744" cy="237744"/>
          </a:xfrm>
          <a:prstGeom prst="rect">
            <a:avLst/>
          </a:prstGeom>
          <a:solidFill>
            <a:srgbClr val="ED5E66"/>
          </a:solidFill>
          <a:ln w="38100">
            <a:solidFill>
              <a:srgbClr val="ED5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5846" y="3154680"/>
            <a:ext cx="25632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120">
                <a:solidFill>
                  <a:srgbClr val="6B6B6B"/>
                </a:solidFill>
                <a:latin typeface="IBM Plex Mono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5846" y="3520440"/>
            <a:ext cx="25632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IBM Plex Sans"/>
              </a:rPr>
              <a:t>Udrulning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5846" y="4023360"/>
            <a:ext cx="2517571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333333"/>
                </a:solidFill>
                <a:latin typeface="IBM Plex Sans"/>
              </a:rPr>
              <a:t>Vi er her nu.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42017" y="2743200"/>
            <a:ext cx="237744" cy="237744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42017" y="3154680"/>
            <a:ext cx="25632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120">
                <a:solidFill>
                  <a:srgbClr val="6B6B6B"/>
                </a:solidFill>
                <a:latin typeface="IBM Plex Mono"/>
              </a:rPr>
              <a:t>Q4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2017" y="3520440"/>
            <a:ext cx="25632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IBM Plex Sans"/>
              </a:rPr>
              <a:t>Evaluering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2017" y="4023360"/>
            <a:ext cx="2517571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333333"/>
                </a:solidFill>
                <a:latin typeface="IBM Plex Sans"/>
              </a:rPr>
              <a:t>Læring og justering.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" y="62910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spc="120">
                <a:solidFill>
                  <a:srgbClr val="6B6B6B"/>
                </a:solidFill>
                <a:latin typeface="IBM Plex Mono"/>
              </a:rPr>
              <a:t>11</a:t>
            </a:r>
          </a:p>
        </p:txBody>
      </p:sp>
      <p:pic>
        <p:nvPicPr>
          <p:cNvPr id="26" name="Picture 25" descr="oe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871" y="6327648"/>
            <a:ext cx="1417320" cy="38654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92024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066B43"/>
                </a:solidFill>
                <a:latin typeface="IBM Plex Mono"/>
              </a:rPr>
              <a:t>+18%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4754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333333"/>
                </a:solidFill>
                <a:latin typeface="IBM Plex Sans"/>
              </a:rPr>
              <a:t>Effektivisering år over år — positivt tal bærer ØS-grøn.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2910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spc="120">
                <a:solidFill>
                  <a:srgbClr val="6B6B6B"/>
                </a:solidFill>
                <a:latin typeface="IBM Plex Mono"/>
              </a:rPr>
              <a:t>12</a:t>
            </a:r>
          </a:p>
        </p:txBody>
      </p:sp>
      <p:pic>
        <p:nvPicPr>
          <p:cNvPr id="7" name="Picture 6" descr="oe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871" y="6327648"/>
            <a:ext cx="1417320" cy="38654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051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000000"/>
                </a:solidFill>
                <a:latin typeface="IBM Plex Sans"/>
              </a:rPr>
              <a:t>Budget pr. område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847088"/>
            <a:ext cx="640080" cy="76200"/>
          </a:xfrm>
          <a:prstGeom prst="rect">
            <a:avLst/>
          </a:prstGeom>
          <a:solidFill>
            <a:srgbClr val="066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25420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IBM Plex Sans"/>
              </a:rPr>
              <a:t>Drift</a:t>
            </a:r>
          </a:p>
        </p:txBody>
      </p:sp>
      <p:sp>
        <p:nvSpPr>
          <p:cNvPr id="7" name="Rectangle 6"/>
          <p:cNvSpPr/>
          <p:nvPr/>
        </p:nvSpPr>
        <p:spPr>
          <a:xfrm>
            <a:off x="2615184" y="2468880"/>
            <a:ext cx="7784287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15184" y="2468880"/>
            <a:ext cx="7784287" cy="5029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36631" y="254203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000000"/>
                </a:solidFill>
                <a:latin typeface="IBM Plex Mono"/>
              </a:rPr>
              <a:t>240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33649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IBM Plex Sans"/>
              </a:rPr>
              <a:t>Udvikling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15184" y="3291840"/>
            <a:ext cx="7784287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15184" y="3291840"/>
            <a:ext cx="3814300" cy="502920"/>
          </a:xfrm>
          <a:prstGeom prst="rect">
            <a:avLst/>
          </a:prstGeom>
          <a:solidFill>
            <a:srgbClr val="ED5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36631" y="336499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000000"/>
                </a:solidFill>
                <a:latin typeface="IBM Plex Mono"/>
              </a:rPr>
              <a:t>118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41879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IBM Plex Sans"/>
              </a:rPr>
              <a:t>Support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15184" y="4114800"/>
            <a:ext cx="7784287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15184" y="4114800"/>
            <a:ext cx="2101757" cy="5029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36631" y="41879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000000"/>
                </a:solidFill>
                <a:latin typeface="IBM Plex Mono"/>
              </a:rPr>
              <a:t>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62910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spc="120">
                <a:solidFill>
                  <a:srgbClr val="6B6B6B"/>
                </a:solidFill>
                <a:latin typeface="IBM Plex Mono"/>
              </a:rPr>
              <a:t>13</a:t>
            </a:r>
          </a:p>
        </p:txBody>
      </p:sp>
      <p:pic>
        <p:nvPicPr>
          <p:cNvPr id="19" name="Picture 18" descr="oe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871" y="6327648"/>
            <a:ext cx="1417320" cy="38654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" y="1828800"/>
            <a:ext cx="2377440" cy="2377440"/>
          </a:xfrm>
          <a:prstGeom prst="rect">
            <a:avLst/>
          </a:prstGeom>
          <a:solidFill>
            <a:srgbClr val="E8E8E3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spc="120">
                <a:solidFill>
                  <a:srgbClr val="6B6B6B"/>
                </a:solidFill>
                <a:latin typeface="IBM Plex Mono"/>
              </a:rPr>
              <a:t>PORTRÆT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828800"/>
            <a:ext cx="76200" cy="1828800"/>
          </a:xfrm>
          <a:prstGeom prst="rect">
            <a:avLst/>
          </a:prstGeom>
          <a:solidFill>
            <a:srgbClr val="ED5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0" y="182880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000000"/>
                </a:solidFill>
                <a:latin typeface="IBM Plex Sans"/>
              </a:rPr>
              <a:t>“Gode beslutninger bygger på pålidelige tal.”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IBM Plex Sans"/>
              </a:rPr>
              <a:t>Økonomistyrelsen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4389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spc="120">
                <a:solidFill>
                  <a:srgbClr val="6B6B6B"/>
                </a:solidFill>
                <a:latin typeface="IBM Plex Mono"/>
              </a:rPr>
              <a:t>STATENS ØKONOMIFORVALTNING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62910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spc="120">
                <a:solidFill>
                  <a:srgbClr val="6B6B6B"/>
                </a:solidFill>
                <a:latin typeface="IBM Plex Mono"/>
              </a:rPr>
              <a:t>14</a:t>
            </a:r>
          </a:p>
        </p:txBody>
      </p:sp>
      <p:pic>
        <p:nvPicPr>
          <p:cNvPr id="10" name="Picture 9" descr="oe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871" y="6327648"/>
            <a:ext cx="1417320" cy="38654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2286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000000"/>
                </a:solidFill>
                <a:latin typeface="IBM Plex Sans"/>
              </a:rPr>
              <a:t>Tak.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4114800"/>
            <a:ext cx="4572000" cy="731520"/>
          </a:xfrm>
          <a:prstGeom prst="roundRect">
            <a:avLst>
              <a:gd name="adj" fmla="val 8000"/>
            </a:avLst>
          </a:prstGeom>
          <a:solidFill>
            <a:srgbClr val="066B43"/>
          </a:solidFill>
          <a:ln w="25400">
            <a:solidFill>
              <a:srgbClr val="066B43"/>
            </a:solidFill>
          </a:ln>
          <a:effectLst>
            <a:outerShdw blurRad="0" dist="50800" dir="2700000" rotWithShape="0">
              <a:srgbClr val="ED5E66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spc="120">
                <a:solidFill>
                  <a:srgbClr val="FFFFFF"/>
                </a:solidFill>
                <a:latin typeface="IBM Plex Mono"/>
              </a:rPr>
              <a:t>OES@OES.DK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2910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spc="120">
                <a:solidFill>
                  <a:srgbClr val="6B6B6B"/>
                </a:solidFill>
                <a:latin typeface="IBM Plex Mono"/>
              </a:rPr>
              <a:t>15</a:t>
            </a:r>
          </a:p>
        </p:txBody>
      </p:sp>
      <p:pic>
        <p:nvPicPr>
          <p:cNvPr id="7" name="Picture 6" descr="oe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871" y="6327648"/>
            <a:ext cx="1417320" cy="3865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