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66B43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Årsrapport 2026.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slidedeck i Økonomistyrelsens identitet — bygget på den brutalistiske skabelon med ØS-grøn som anker.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Årets resultater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BDBDBD"/>
                </a:solidFill>
                <a:latin typeface="IBM Plex Mono"/>
              </a:rPr>
              <a:t>02</a:t>
            </a:r>
          </a:p>
        </p:txBody>
      </p:sp>
      <p:pic>
        <p:nvPicPr>
          <p:cNvPr id="7" name="Picture 6" descr="oe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87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fokusområder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5450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24688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Digitalisering af økonomiprocesser på tværs af staten.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2034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31272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Øget gennemsigtighed i statsregnskabet.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3861816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37856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Stærkere datagrundlag for politiske beslutninger.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45201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44439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Reduktion af administrative byrder.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pic>
        <p:nvPicPr>
          <p:cNvPr id="15" name="Picture 1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og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2743200"/>
            <a:ext cx="12700" cy="301752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FØR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Manuelle indberetninger, spredte systemer, lange svartider.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EFTER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48463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Samlet platform, automatiske flows, realtids-overblik.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pic>
        <p:nvPicPr>
          <p:cNvPr id="12" name="Picture 11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Gode beslutninger bygger på pålidelige 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ØKONOMISTYRELSEN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05</a:t>
            </a:r>
          </a:p>
        </p:txBody>
      </p:sp>
      <p:pic>
        <p:nvPicPr>
          <p:cNvPr id="8" name="Picture 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Året i 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1,2 mio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BEHANDLEDE BILAG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74320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EFFEKTIVISERING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74320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306324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99,8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34340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OPPETID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06</a:t>
            </a:r>
          </a:p>
        </p:txBody>
      </p:sp>
      <p:pic>
        <p:nvPicPr>
          <p:cNvPr id="16" name="Picture 1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00000"/>
                </a:solidFill>
                <a:latin typeface="IBM Plex Sans"/>
              </a:rPr>
              <a:t>Budgetoversigt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2468880"/>
          <a:ext cx="10984687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OMRÅDE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ANSVAR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BUDGET (MIO)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AFVIGELSE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Drift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−2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Udvikling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118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+5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Support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64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07</a:t>
            </a:r>
          </a:p>
        </p:txBody>
      </p:sp>
      <p:pic>
        <p:nvPicPr>
          <p:cNvPr id="8" name="Picture 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1945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21762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Årets resultater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8346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063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ED5E6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30449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Digitalisering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7033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9319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9136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Økonomi &amp;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45720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80060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78231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Næste skridt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544068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08</a:t>
            </a:r>
          </a:p>
        </p:txBody>
      </p:sp>
      <p:pic>
        <p:nvPicPr>
          <p:cNvPr id="19" name="Picture 1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indsatsområder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Effektivitet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Færre manuelle trin gennem automatisering.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3774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651760"/>
            <a:ext cx="457200" cy="4572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Gennemsigtighed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— gul flade,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3774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6517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2918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Datagrundlag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8404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Bedre tal til politiske beslutninger.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10</a:t>
            </a:r>
          </a:p>
        </p:txBody>
      </p:sp>
      <p:pic>
        <p:nvPicPr>
          <p:cNvPr id="19" name="Picture 1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fire kvartaler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Løsninger formes.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83464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743200"/>
            <a:ext cx="237744" cy="237744"/>
          </a:xfrm>
          <a:prstGeom prst="rect">
            <a:avLst/>
          </a:prstGeom>
          <a:solidFill>
            <a:srgbClr val="ED5E66"/>
          </a:solidFill>
          <a:ln w="38100">
            <a:solidFill>
              <a:srgbClr val="ED5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Udrulning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74320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315468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52044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Evaluering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402336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Læring og justering.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11</a:t>
            </a:r>
          </a:p>
        </p:txBody>
      </p:sp>
      <p:pic>
        <p:nvPicPr>
          <p:cNvPr id="26" name="Picture 2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920240"/>
            <a:ext cx="10515600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4754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Effektivisering år over år — positivt tal bærer ØS-grøn.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12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051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 pr. område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847088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25420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Drift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24688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25420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649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Udvikling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32918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3291840"/>
            <a:ext cx="3814300" cy="50292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33649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41879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41148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4114800"/>
            <a:ext cx="210175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41879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13</a:t>
            </a:r>
          </a:p>
        </p:txBody>
      </p:sp>
      <p:pic>
        <p:nvPicPr>
          <p:cNvPr id="19" name="Picture 1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“Gode beslutninger bygger på pålidelige tal.”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Økonomistyrelsen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STATENS ØKONOMIFORVALTNING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14</a:t>
            </a:r>
          </a:p>
        </p:txBody>
      </p:sp>
      <p:pic>
        <p:nvPicPr>
          <p:cNvPr id="10" name="Picture 9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Tak.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66B43"/>
          </a:solidFill>
          <a:ln w="25400">
            <a:solidFill>
              <a:srgbClr val="066B43"/>
            </a:solidFill>
          </a:ln>
          <a:effectLst>
            <a:outerShdw blurRad="0" dist="508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OES@OES.DK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910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spc="120">
                <a:solidFill>
                  <a:srgbClr val="6B6B6B"/>
                </a:solidFill>
                <a:latin typeface="IBM Plex Mono"/>
              </a:rPr>
              <a:t>15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0871" y="6327648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