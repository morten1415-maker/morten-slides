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spcAft>
                <a:spcPts val="1800"/>
              </a:spcAft>
            </a:pPr>
            <a:r>
              <a:rPr sz="1400" b="1" spc="120">
                <a:solidFill>
                  <a:srgbClr val="6B6B6B"/>
                </a:solidFill>
                <a:latin typeface="IBM Plex Mono"/>
              </a:rPr>
              <a:t>MORTEN DESIGN SYSTEM · 2026</a:t>
            </a:r>
          </a:p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Bærbar brutalisme.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slide-system der bærer din brand-karakter — sort kant, hård shadow, mono-label.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Grundprincipper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BDBDBD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BDBDBD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PRINCIP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Reservér de stærke elementer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5450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468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Maks. én rød-shadow per slide — det er din primary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2034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31272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Maks. én gul flade per slide — det vigtigste KPI eller aktive sektion.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861816"/>
            <a:ext cx="139700" cy="1397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856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Hvis alt råber, lytter ingen.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5201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439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Sort til alle yderkanter, lysegrå kun til indre delelinjer.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5178552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510235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Tal er altid mono + tabular-nums.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TYPOGRAFI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Mono er system. Sans er indhold.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743200"/>
            <a:ext cx="12700" cy="301752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MONO — IBM PLEX MONO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Labels, metadata, status, tal, tider, tags, kbd. ALTID uppercase med letter-spacing.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SANS — IBM PLEX SANS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Overskrifter, brødtekst, bullets, indhold. Normal case, naturlig læsning.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Den røde shadow betyder “tryk her”. Brug den én gang.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DESIGNPRINCIP NR.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RESULTATER ·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Tre tal der tæller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86908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AKTIVE KOMPONENTER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74320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3063240"/>
            <a:ext cx="286908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16A34A"/>
                </a:solidFill>
                <a:latin typeface="IBM Plex Mono"/>
              </a:rPr>
              <a:t>+34%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VÆKST I ADOPTION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3063240"/>
            <a:ext cx="286908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UPTIME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OVERSIGT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Komponent-status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2468880"/>
          <a:ext cx="10984687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KOMPONENT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EJER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BRUG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ISSUES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Button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1.240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DataTable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512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7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Modal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388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CommandPalette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Core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204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INDHOLD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1945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21762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Grundprincipper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8346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063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30449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Slide-typer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7033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9319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FF5757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9136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Billed-layouts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45720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8006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78231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Data &amp; resultater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544068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spcAft>
                <a:spcPts val="1400"/>
              </a:spcAft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KAPITEL</a:t>
            </a:r>
          </a:p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FULL-BLEED BILLEDE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0"/>
            <a:ext cx="8229600" cy="640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577900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spc="100">
                <a:solidFill>
                  <a:srgbClr val="FF5757"/>
                </a:solidFill>
                <a:latin typeface="IBM Plex Mono"/>
              </a:rPr>
              <a:t>FOTO   </a:t>
            </a:r>
            <a:r>
              <a:rPr sz="1800">
                <a:solidFill>
                  <a:srgbClr val="FFFFFF"/>
                </a:solidFill>
                <a:latin typeface="IBM Plex Sans"/>
              </a:rPr>
              <a:t>Caption i sort stribe — mono-kicker + titel.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Billede + tekst side om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286000"/>
            <a:ext cx="5029200" cy="384048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BILLEDE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236220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2860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Halv-til-halv layout med skarpt billed-felt.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2308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315468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image_left=True giver spejlet variant.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099560"/>
            <a:ext cx="139700" cy="1397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333333"/>
                </a:solidFill>
                <a:latin typeface="IBM Plex Sans"/>
              </a:rPr>
              <a:t>Billedet får 2px sort kant som alt andet.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GALLERI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Billed-grid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1266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079028" y="228600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1266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4320540"/>
            <a:ext cx="3509162" cy="18059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FUNKTIONER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kort med ikon-plads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Hurtig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Offset-shadows gør hierarkiet øjeblikkeligt læsbart.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3774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651760"/>
            <a:ext cx="457200" cy="4572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Distinkt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bruger gul flade —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Konsistent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Samme tokens som UI-systemet, skaleret til projektor.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PROCES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Fire trin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Indsigt og 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Koncept og prototyper.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743200"/>
            <a:ext cx="237744" cy="237744"/>
          </a:xfrm>
          <a:prstGeom prst="rect">
            <a:avLst/>
          </a:prstGeom>
          <a:solidFill>
            <a:srgbClr val="FF5757"/>
          </a:solidFill>
          <a:ln w="38100">
            <a:solidFill>
              <a:srgbClr val="FF5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Launch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Udrulning og læring.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VALG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vs. efter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FØR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3329940"/>
            <a:ext cx="201168" cy="201168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291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Spredte systemer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878580"/>
            <a:ext cx="201168" cy="201168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404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Manuelle flows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" y="442722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Kendt af alle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377440"/>
            <a:ext cx="530352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2606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000000"/>
                </a:solidFill>
                <a:latin typeface="IBM Plex Mono"/>
              </a:rPr>
              <a:t>EFTER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47104" y="332994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291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Samlet platform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47104" y="387858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2864" y="38404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Automatiske 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47104" y="442722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IBM Plex Sans"/>
              </a:rPr>
              <a:t>Realtids-overblik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NØGLETAL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92024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16A34A"/>
                </a:solidFill>
                <a:latin typeface="IBM Plex Mono"/>
              </a:rPr>
              <a:t>+34%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Vækst i adoption år over år — ét tal, fuld fokus.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FORDELING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Brug pr. komponent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542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Button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25420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1.240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DataTable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32918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3291840"/>
            <a:ext cx="3191557" cy="50292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3364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41879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Modal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41148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4114800"/>
            <a:ext cx="2413128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41879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388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5010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Palette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15184" y="493776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15184" y="4937760"/>
            <a:ext cx="1245485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6631" y="50109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603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UDTALELSE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FF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“Systemet gør det nemt at lave slides der ser bevidste ud.”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Morten Mølgaard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20">
                <a:solidFill>
                  <a:srgbClr val="6B6B6B"/>
                </a:solidFill>
                <a:latin typeface="IBM Plex Mono"/>
              </a:rPr>
              <a:t>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286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Lad os bygge.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25400">
            <a:solidFill>
              <a:srgbClr val="000000"/>
            </a:solidFill>
          </a:ln>
          <a:effectLst>
            <a:outerShdw blurRad="0" dist="50800" dir="2700000" rotWithShape="0">
              <a:srgbClr val="FF5757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MORTEN@DESIGN.SYSTEM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MORTEN DS · SLIDE-TEMPLATE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695" y="6291072"/>
            <a:ext cx="16824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spc="120">
                <a:solidFill>
                  <a:srgbClr val="6B6B6B"/>
                </a:solidFill>
                <a:latin typeface="IBM Plex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