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" y="1554480"/>
            <a:ext cx="100584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>
            <a:outerShdw blurRad="0" dist="1016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502920" bIns="502920"/>
          <a:lstStyle/>
          <a:p>
            <a:pPr algn="l">
              <a:spcAft>
                <a:spcPts val="1800"/>
              </a:spcAft>
            </a:pPr>
            <a:r>
              <a:rPr sz="1400" b="1" spc="120">
                <a:solidFill>
                  <a:srgbClr val="6B6B6B"/>
                </a:solidFill>
                <a:latin typeface="IBM Plex Mono"/>
              </a:rPr>
              <a:t>MORTEN DESIGN SYSTEM · 2026</a:t>
            </a:r>
          </a:p>
          <a:p>
            <a:pPr algn="l">
              <a:lnSpc>
                <a:spcPct val="102000"/>
              </a:lnSpc>
              <a:spcAft>
                <a:spcPts val="2000"/>
              </a:spcAft>
            </a:pPr>
            <a:r>
              <a:rPr sz="5800" b="1">
                <a:solidFill>
                  <a:srgbClr val="000000"/>
                </a:solidFill>
                <a:latin typeface="IBM Plex Sans"/>
              </a:rPr>
              <a:t>Bærbar brutalisme.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Et slide-system der bærer din brand-karakter — sort kant, hård shadow, mono-label.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spc="120">
                <a:solidFill>
                  <a:srgbClr val="FFFFFF"/>
                </a:solidFill>
                <a:latin typeface="IBM Plex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43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BM Plex Sans"/>
              </a:rPr>
              <a:t>Grundprincipper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BDBDBD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BDBDBD"/>
                </a:solidFill>
                <a:latin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PRINCIP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Reservér de stærke elementer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545080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4688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Maks. én rød-shadow per slide — det er din primary 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203448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312724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Maks. én gul flade per slide — det vigtigste KPI eller aktive sektion.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3861816"/>
            <a:ext cx="139700" cy="139700"/>
          </a:xfrm>
          <a:prstGeom prst="rect">
            <a:avLst/>
          </a:prstGeom>
          <a:solidFill>
            <a:srgbClr val="FF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3785616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Hvis alt råber, lytter ingen.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4520184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4443984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Sort til alle yderkanter, lysegrå kun til indre delelinjer.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5178552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510235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Tal er altid mono + tabular-nums.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TYPOGRAFI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Mono er system. Sans er indhold.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743200"/>
            <a:ext cx="12700" cy="301752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2743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MONO — IBM PLEX MONO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20040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Labels, metadata, status, tal, tider, tags, kbd. ALTID uppercase med letter-spacing.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SANS — IBM PLEX SANS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Overskrifter, brødtekst, bullets, indhold. Normal case, naturlig læsning.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" y="2194560"/>
            <a:ext cx="76200" cy="2377440"/>
          </a:xfrm>
          <a:prstGeom prst="rect">
            <a:avLst/>
          </a:prstGeom>
          <a:solidFill>
            <a:srgbClr val="FF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2194560"/>
            <a:ext cx="960120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0000"/>
                </a:solidFill>
                <a:latin typeface="IBM Plex Sans"/>
              </a:rPr>
              <a:t>Den røde shadow betyder “tryk her”. Brug den én gang.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spc="120">
                <a:solidFill>
                  <a:srgbClr val="6B6B6B"/>
                </a:solidFill>
                <a:latin typeface="IBM Plex Mono"/>
              </a:rPr>
              <a:t>— DESIGNPRINCIP NR.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RESULTATER · Q1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IBM Plex Sans"/>
              </a:rPr>
              <a:t>Tre tal der tæller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743200"/>
            <a:ext cx="3417722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35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063240"/>
            <a:ext cx="2869082" cy="11887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IBM Plex Mono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343400"/>
            <a:ext cx="286908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120">
                <a:solidFill>
                  <a:srgbClr val="6B6B6B"/>
                </a:solidFill>
                <a:latin typeface="IBM Plex Mono"/>
              </a:rPr>
              <a:t>AKTIVE KOMPONENTER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6986" y="2743200"/>
            <a:ext cx="3417722" cy="2377440"/>
          </a:xfrm>
          <a:prstGeom prst="rect">
            <a:avLst/>
          </a:prstGeom>
          <a:solidFill>
            <a:srgbClr val="FEF3C7"/>
          </a:solidFill>
          <a:ln w="25400">
            <a:solidFill>
              <a:srgbClr val="000000"/>
            </a:solidFill>
          </a:ln>
          <a:effectLst>
            <a:outerShdw blurRad="0" dist="63500" dir="2700000" rotWithShape="0">
              <a:srgbClr val="FF5757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1306" y="3063240"/>
            <a:ext cx="2869082" cy="11887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16A34A"/>
                </a:solidFill>
                <a:latin typeface="IBM Plex Mono"/>
              </a:rPr>
              <a:t>+34%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1306" y="4343400"/>
            <a:ext cx="286908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120">
                <a:solidFill>
                  <a:srgbClr val="6B6B6B"/>
                </a:solidFill>
                <a:latin typeface="IBM Plex Mono"/>
              </a:rPr>
              <a:t>VÆKST I ADOPTION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0468" y="2743200"/>
            <a:ext cx="3417722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35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4788" y="3063240"/>
            <a:ext cx="2869082" cy="11887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IBM Plex Mono"/>
              </a:rPr>
              <a:t>99.9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4788" y="4343400"/>
            <a:ext cx="286908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120">
                <a:solidFill>
                  <a:srgbClr val="6B6B6B"/>
                </a:solidFill>
                <a:latin typeface="IBM Plex Mono"/>
              </a:rPr>
              <a:t>UPTIME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OVERSIGT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IBM Plex Sans"/>
              </a:rPr>
              <a:t>Komponent-status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" y="2468880"/>
          <a:ext cx="10984687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6171"/>
                <a:gridCol w="2746171"/>
                <a:gridCol w="2746171"/>
                <a:gridCol w="2746174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KOMPONENT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EJER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BRUG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ISSUES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Button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Core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1.240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2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DataTable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Core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512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7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Modal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Core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388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1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CommandPalette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Core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204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0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INDHOLD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194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6B6B6B"/>
                </a:solidFill>
                <a:latin typeface="IBM Plex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44" y="21762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IBM Plex Sans"/>
              </a:rPr>
              <a:t>Grundprincipper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283464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3063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6B6B6B"/>
                </a:solidFill>
                <a:latin typeface="IBM Plex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30449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IBM Plex Sans"/>
              </a:rPr>
              <a:t>Slide-typer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370332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39319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FF5757"/>
                </a:solidFill>
                <a:latin typeface="IBM Plex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39136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IBM Plex Sans"/>
              </a:rPr>
              <a:t>Billed-layouts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457200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4800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6B6B6B"/>
                </a:solidFill>
                <a:latin typeface="IBM Plex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478231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IBM Plex Sans"/>
              </a:rPr>
              <a:t>Data &amp; resultater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544068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BAGGRUNDSBILLEDE 16:9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3017520"/>
            <a:ext cx="822960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>
            <a:outerShdw blurRad="0" dist="1016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02920" tIns="457200" bIns="457200"/>
          <a:lstStyle/>
          <a:p>
            <a:pPr algn="l">
              <a:spcAft>
                <a:spcPts val="1400"/>
              </a:spcAft>
            </a:pPr>
            <a:r>
              <a:rPr sz="1300" b="1" spc="120">
                <a:solidFill>
                  <a:srgbClr val="6B6B6B"/>
                </a:solidFill>
                <a:latin typeface="IBM Plex Mono"/>
              </a:rPr>
              <a:t>KAPITEL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4400" b="1">
                <a:solidFill>
                  <a:srgbClr val="000000"/>
                </a:solidFill>
                <a:latin typeface="IBM Plex Sans"/>
              </a:rPr>
              <a:t>Stort billede, stærk åbning.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333333"/>
                </a:solidFill>
                <a:latin typeface="IBM Plex Sans"/>
              </a:rPr>
              <a:t>Overlay-boks med hård shadow oven på fuldt baggrundsbillede.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FULL-BLEED BILLEDE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0"/>
            <a:ext cx="8229600" cy="6400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57790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00">
                <a:solidFill>
                  <a:srgbClr val="FF5757"/>
                </a:solidFill>
                <a:latin typeface="IBM Plex Mono"/>
              </a:rPr>
              <a:t>FOTO   </a:t>
            </a:r>
            <a:r>
              <a:rPr sz="1800">
                <a:solidFill>
                  <a:srgbClr val="FFFFFF"/>
                </a:solidFill>
                <a:latin typeface="IBM Plex Sans"/>
              </a:rPr>
              <a:t>Caption i sort stribe — mono-kicker + titel.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Billede + tekst side om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19672" y="2286000"/>
            <a:ext cx="5029200" cy="384048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BILLEDE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2362200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860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333333"/>
                </a:solidFill>
                <a:latin typeface="IBM Plex Sans"/>
              </a:rPr>
              <a:t>Halv-til-halv layout med skarpt billed-felt.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3230880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1546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333333"/>
                </a:solidFill>
                <a:latin typeface="IBM Plex Sans"/>
              </a:rPr>
              <a:t>image_left=True giver spejlet variant.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4099560"/>
            <a:ext cx="139700" cy="139700"/>
          </a:xfrm>
          <a:prstGeom prst="rect">
            <a:avLst/>
          </a:prstGeom>
          <a:solidFill>
            <a:srgbClr val="FF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023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333333"/>
                </a:solidFill>
                <a:latin typeface="IBM Plex Sans"/>
              </a:rPr>
              <a:t>Billedet får 2px sort kant som alt andet.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GALLERI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Billed-grid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286000"/>
            <a:ext cx="3509162" cy="180594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1266" y="2286000"/>
            <a:ext cx="3509162" cy="180594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9028" y="2286000"/>
            <a:ext cx="3509162" cy="180594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320540"/>
            <a:ext cx="3509162" cy="180594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1266" y="4320540"/>
            <a:ext cx="3509162" cy="180594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9028" y="4320540"/>
            <a:ext cx="3509162" cy="180594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FUNKTIONER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Tre kort med ikon-plads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377440"/>
            <a:ext cx="3448202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381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651760"/>
            <a:ext cx="45720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291840"/>
            <a:ext cx="289956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IBM Plex Sans"/>
              </a:rPr>
              <a:t>Hurtig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840480"/>
            <a:ext cx="289956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33333"/>
                </a:solidFill>
                <a:latin typeface="IBM Plex Sans"/>
              </a:rPr>
              <a:t>Offset-shadows gør hierarkiet øjeblikkeligt læsbart.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746" y="2377440"/>
            <a:ext cx="3448202" cy="3291840"/>
          </a:xfrm>
          <a:prstGeom prst="rect">
            <a:avLst/>
          </a:prstGeom>
          <a:solidFill>
            <a:srgbClr val="FEF3C7"/>
          </a:solidFill>
          <a:ln w="25400">
            <a:solidFill>
              <a:srgbClr val="000000"/>
            </a:solidFill>
          </a:ln>
          <a:effectLst>
            <a:outerShdw blurRad="0" dist="381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46066" y="2651760"/>
            <a:ext cx="457200" cy="457200"/>
          </a:xfrm>
          <a:prstGeom prst="rect">
            <a:avLst/>
          </a:prstGeom>
          <a:solidFill>
            <a:srgbClr val="FF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6066" y="3291840"/>
            <a:ext cx="289956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IBM Plex Sans"/>
              </a:rPr>
              <a:t>Distinkt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6066" y="3840480"/>
            <a:ext cx="289956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33333"/>
                </a:solidFill>
                <a:latin typeface="IBM Plex Sans"/>
              </a:rPr>
              <a:t>Det fremhævede kort bruger gul flade — kun ét per slide.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9988" y="2377440"/>
            <a:ext cx="3448202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381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4308" y="2651760"/>
            <a:ext cx="45720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4308" y="3291840"/>
            <a:ext cx="289956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IBM Plex Sans"/>
              </a:rPr>
              <a:t>Konsistent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4308" y="3840480"/>
            <a:ext cx="289956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33333"/>
                </a:solidFill>
                <a:latin typeface="IBM Plex Sans"/>
              </a:rPr>
              <a:t>Samme tokens som UI-systemet, skaleret til projektor.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PROCES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Fire trin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34640"/>
            <a:ext cx="252671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2743200"/>
            <a:ext cx="237744" cy="237744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315468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52044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402336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Indsigt og behov afdækkes.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9131" y="2834640"/>
            <a:ext cx="252671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9675" y="2743200"/>
            <a:ext cx="237744" cy="237744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9675" y="315468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9675" y="352044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9675" y="402336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Koncept og prototyper.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5302" y="2834640"/>
            <a:ext cx="252671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5846" y="2743200"/>
            <a:ext cx="237744" cy="237744"/>
          </a:xfrm>
          <a:prstGeom prst="rect">
            <a:avLst/>
          </a:prstGeom>
          <a:solidFill>
            <a:srgbClr val="FF5757"/>
          </a:solidFill>
          <a:ln w="38100">
            <a:solidFill>
              <a:srgbClr val="FF5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5846" y="315468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6" y="352044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6" y="402336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Vi er her nu.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42017" y="2743200"/>
            <a:ext cx="237744" cy="237744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017" y="315468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017" y="352044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017" y="402336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Udrulning og læring.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VALG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Før vs. efter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377440"/>
            <a:ext cx="53035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000000"/>
                </a:solidFill>
                <a:latin typeface="IBM Plex Mono"/>
              </a:rPr>
              <a:t>FØR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3329940"/>
            <a:ext cx="201168" cy="201168"/>
          </a:xfrm>
          <a:prstGeom prst="rect">
            <a:avLst/>
          </a:prstGeom>
          <a:solidFill>
            <a:srgbClr val="FF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Spredte systemer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878580"/>
            <a:ext cx="201168" cy="201168"/>
          </a:xfrm>
          <a:prstGeom prst="rect">
            <a:avLst/>
          </a:prstGeom>
          <a:solidFill>
            <a:srgbClr val="FF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3840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Manuelle flows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4427220"/>
            <a:ext cx="201168" cy="2011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Kendt af alle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2377440"/>
            <a:ext cx="53035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3500" dir="2700000" rotWithShape="0">
              <a:srgbClr val="FF5757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000000"/>
                </a:solidFill>
                <a:latin typeface="IBM Plex Mono"/>
              </a:rPr>
              <a:t>EFTER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7104" y="3329940"/>
            <a:ext cx="201168" cy="2011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864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Samlet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7104" y="3878580"/>
            <a:ext cx="201168" cy="2011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3840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Automatiske 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47104" y="4427220"/>
            <a:ext cx="201168" cy="2011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2864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Realtids-overblik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NØGLETAL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920240"/>
            <a:ext cx="10515600" cy="25603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16A34A"/>
                </a:solidFill>
                <a:latin typeface="IBM Plex Mono"/>
              </a:rPr>
              <a:t>+34%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4754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333333"/>
                </a:solidFill>
                <a:latin typeface="IBM Plex Sans"/>
              </a:rPr>
              <a:t>Vækst i adoption år over år — ét tal, fuld fokus.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FORDELING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Brug pr. komponent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5420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IBM Plex Sans"/>
              </a:rPr>
              <a:t>Button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615184" y="2468880"/>
            <a:ext cx="7784287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5184" y="2468880"/>
            <a:ext cx="7784287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36631" y="25420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000000"/>
                </a:solidFill>
                <a:latin typeface="IBM Plex Mono"/>
              </a:rPr>
              <a:t>1.240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33649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IBM Plex Sans"/>
              </a:rPr>
              <a:t>DataTable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15184" y="3291840"/>
            <a:ext cx="7784287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15184" y="3291840"/>
            <a:ext cx="3191557" cy="502920"/>
          </a:xfrm>
          <a:prstGeom prst="rect">
            <a:avLst/>
          </a:prstGeom>
          <a:solidFill>
            <a:srgbClr val="FF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36631" y="33649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000000"/>
                </a:solidFill>
                <a:latin typeface="IBM Plex Mono"/>
              </a:rPr>
              <a:t>512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4187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IBM Plex Sans"/>
              </a:rPr>
              <a:t>Modal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5184" y="4114800"/>
            <a:ext cx="7784287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15184" y="4114800"/>
            <a:ext cx="2413128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6631" y="41879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000000"/>
                </a:solidFill>
                <a:latin typeface="IBM Plex Mono"/>
              </a:rPr>
              <a:t>388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50109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IBM Plex Sans"/>
              </a:rPr>
              <a:t>Palette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15184" y="4937760"/>
            <a:ext cx="7784287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15184" y="4937760"/>
            <a:ext cx="1245485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36631" y="50109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000000"/>
                </a:solidFill>
                <a:latin typeface="IBM Plex Mono"/>
              </a:rPr>
              <a:t>204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03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UDTALELSE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828800"/>
            <a:ext cx="2377440" cy="237744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PORTRÆT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828800"/>
            <a:ext cx="76200" cy="1828800"/>
          </a:xfrm>
          <a:prstGeom prst="rect">
            <a:avLst/>
          </a:prstGeom>
          <a:solidFill>
            <a:srgbClr val="FF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00000"/>
                </a:solidFill>
                <a:latin typeface="IBM Plex Sans"/>
              </a:rPr>
              <a:t>“Systemet gør det nemt at lave slides der ser bevidste ud.”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Morten Mølgaard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6B6B6B"/>
                </a:solidFill>
                <a:latin typeface="IBM Plex Mono"/>
              </a:rPr>
              <a:t>TAK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286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000000"/>
                </a:solidFill>
                <a:latin typeface="IBM Plex Sans"/>
              </a:rPr>
              <a:t>Lad os bygge.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411480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25400">
            <a:solidFill>
              <a:srgbClr val="000000"/>
            </a:solidFill>
          </a:ln>
          <a:effectLst>
            <a:outerShdw blurRad="0" dist="50800" dir="2700000" rotWithShape="0">
              <a:srgbClr val="FF5757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spc="120">
                <a:solidFill>
                  <a:srgbClr val="FFFFFF"/>
                </a:solidFill>
                <a:latin typeface="IBM Plex Mono"/>
              </a:rPr>
              <a:t>MORTEN@DESIGN.SYSTEM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291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MORTEN DS · SLIDE-TEMPLATE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29107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spc="120">
                <a:solidFill>
                  <a:srgbClr val="6B6B6B"/>
                </a:solidFill>
                <a:latin typeface="IBM Plex Mono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